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8" r:id="rId5"/>
    <p:sldId id="267" r:id="rId6"/>
    <p:sldId id="274" r:id="rId7"/>
    <p:sldId id="270" r:id="rId8"/>
    <p:sldId id="269" r:id="rId9"/>
    <p:sldId id="273" r:id="rId10"/>
    <p:sldId id="272" r:id="rId11"/>
    <p:sldId id="260" r:id="rId12"/>
    <p:sldId id="271" r:id="rId13"/>
    <p:sldId id="261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5" d="100"/>
          <a:sy n="175" d="100"/>
        </p:scale>
        <p:origin x="131" y="2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0679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9DF33-9A71-74B8-17BD-8DBFBDF20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30FE06-E1B5-D3B6-04E0-0D346B235D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C1CDE0-2D5C-FAED-A3CD-D5A3D1B6E6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B83F64-E37F-C30B-CBBA-5A8A04B41F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4439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667B9-E0D3-1CFF-964B-F5E78140E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17AC21-EE93-57D9-EFF6-3E61FE8380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FF94DA-EA0A-982C-47A8-59CC84C528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8D69B2-49A4-F53F-8E6B-FE3FE148DF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3074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F5330-73E2-D098-26BB-4C2AF7F60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E119EE-AF92-109A-D18B-CE535999F6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8560D4-C5F5-1583-10C0-6EA4005560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F67372-D2C2-00F7-44DE-30EDFA1F7E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1037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5A3DA-EBDF-0EEB-1BA2-EEA4BF61F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853D21-2229-5D82-BFF1-683156C642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5A1504-6799-C303-D736-761206F15F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90BCD6-4143-6F1A-20E7-18836A7847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5394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2EEAF-5385-F17B-47D7-2178E50D9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A701AC-C505-A26C-7A53-4D67FFF3BF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B95ED9-09A4-6742-9F5A-B808E8E080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5016F-5A0F-E175-9658-41C17BAE74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6688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3F07B-7C8D-78D5-E176-9F238C1F7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6845F8-C565-5EBE-42CF-4F77BB6B4D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91677B-5048-6C41-5F71-FE8622ACFB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394686-C7A5-C05B-0C2A-D875494EA9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8575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AA241-BAD9-8174-DAD6-663A08C4D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8EC78A-B84C-6EC8-A324-569C8277C0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98EDA7-1A79-992A-E7FA-B07555AF0F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838DB-70E8-369D-A780-A87246D015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7630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BD7F9-DCDC-3803-F2BF-E6F3412CC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73A2ED-5F9C-0DEA-0206-9F8AC93E74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3FC937-87FB-DE4A-DEF3-88F6D2E821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26DAF9-982C-407F-FE78-461528F915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5093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2D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3D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2D%20Field.html" TargetMode="External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hyperlink" Target="3D%20Field.html" TargetMode="External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5421" y="2337429"/>
            <a:ext cx="7553158" cy="5975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4900"/>
              </a:lnSpc>
              <a:buNone/>
            </a:pPr>
            <a:r>
              <a:rPr lang="en-US" sz="3731" b="1" kern="0" spc="-1" dirty="0">
                <a:solidFill>
                  <a:srgbClr val="FFFFFF"/>
                </a:solidFill>
              </a:rPr>
              <a:t>Vector Fields in Multivariable Calculus</a:t>
            </a:r>
            <a:endParaRPr lang="en-US" sz="3731" dirty="0"/>
          </a:p>
        </p:txBody>
      </p:sp>
      <p:sp>
        <p:nvSpPr>
          <p:cNvPr id="4" name="Text 1"/>
          <p:cNvSpPr/>
          <p:nvPr/>
        </p:nvSpPr>
        <p:spPr>
          <a:xfrm>
            <a:off x="3036487" y="3097513"/>
            <a:ext cx="3071034" cy="2618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86" dirty="0">
                <a:solidFill>
                  <a:srgbClr val="FFFFFF">
                    <a:alpha val="70000"/>
                  </a:srgbClr>
                </a:solidFill>
              </a:rPr>
              <a:t>Introduction of Vector and Vector Fields</a:t>
            </a:r>
            <a:endParaRPr lang="en-US" sz="1486" dirty="0"/>
          </a:p>
        </p:txBody>
      </p:sp>
      <p:sp>
        <p:nvSpPr>
          <p:cNvPr id="5" name="Text 2"/>
          <p:cNvSpPr/>
          <p:nvPr/>
        </p:nvSpPr>
        <p:spPr>
          <a:xfrm>
            <a:off x="4220943" y="4097722"/>
            <a:ext cx="70211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Xianzhuo Ari Yin</a:t>
            </a:r>
            <a:endParaRPr lang="en-US" sz="834" dirty="0"/>
          </a:p>
        </p:txBody>
      </p:sp>
      <p:sp>
        <p:nvSpPr>
          <p:cNvPr id="6" name="Text 3"/>
          <p:cNvSpPr/>
          <p:nvPr/>
        </p:nvSpPr>
        <p:spPr>
          <a:xfrm>
            <a:off x="4361207" y="4303440"/>
            <a:ext cx="42158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Math 151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4339564" y="4509157"/>
            <a:ext cx="464871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12/3/2025</a:t>
            </a:r>
            <a:endParaRPr lang="en-US" sz="83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457200" y="1143000"/>
            <a:ext cx="3703309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向量场可视化示意图</a:t>
            </a:r>
            <a:endParaRPr lang="en-US" sz="727" dirty="0"/>
          </a:p>
        </p:txBody>
      </p:sp>
      <p:sp>
        <p:nvSpPr>
          <p:cNvPr id="5" name="Text 2"/>
          <p:cNvSpPr/>
          <p:nvPr/>
        </p:nvSpPr>
        <p:spPr>
          <a:xfrm>
            <a:off x="4983491" y="1250910"/>
            <a:ext cx="3279039" cy="3902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0000"/>
                </a:solidFill>
              </a:rPr>
              <a:t>Why Study Vector Fields?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4983491" y="1876685"/>
            <a:ext cx="607410" cy="2041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333333"/>
                </a:solidFill>
              </a:rPr>
              <a:t>Core Idea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983491" y="2269592"/>
            <a:ext cx="3703309" cy="43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42" dirty="0">
                <a:solidFill>
                  <a:srgbClr val="4C4C4C"/>
                </a:solidFill>
              </a:rPr>
              <a:t>Many real-world quantities have both magnitude and direction, and they change with spatial position. We use vector fields to model them.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4983491" y="2911078"/>
            <a:ext cx="1368773" cy="2041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700"/>
              </a:lnSpc>
            </a:pPr>
            <a:r>
              <a:rPr lang="en-US" altLang="zh-CN" sz="1200" b="1" dirty="0"/>
              <a:t>Practical Applications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983491" y="3303984"/>
            <a:ext cx="2093715" cy="18434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altLang="zh-CN" sz="900" dirty="0"/>
              <a:t>Wind speed distributions in meteorology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4983491" y="3595427"/>
            <a:ext cx="1577548" cy="18434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altLang="zh-CN" sz="900" dirty="0"/>
              <a:t>Water flow in rivers or oceans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4983491" y="3886870"/>
            <a:ext cx="1935017" cy="18434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altLang="zh-CN" sz="900" dirty="0"/>
              <a:t>Electric and magnetic fields in physics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4983491" y="3303984"/>
            <a:ext cx="4297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•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4983491" y="3595427"/>
            <a:ext cx="4297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•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4983491" y="3886870"/>
            <a:ext cx="4297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•</a:t>
            </a:r>
            <a:endParaRPr lang="en-US" sz="784" dirty="0"/>
          </a:p>
        </p:txBody>
      </p:sp>
      <p:pic>
        <p:nvPicPr>
          <p:cNvPr id="1028" name="Picture 4" descr="物理光学笔记">
            <a:extLst>
              <a:ext uri="{FF2B5EF4-FFF2-40B4-BE49-F238E27FC236}">
                <a16:creationId xmlns:a16="http://schemas.microsoft.com/office/drawing/2014/main" id="{B63B0A76-F543-94A2-0DD4-7D63210D9A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79" y="547445"/>
            <a:ext cx="3931149" cy="40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886578"/>
            <a:ext cx="2613279" cy="4308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zh-CN" sz="2800" b="1" dirty="0"/>
              <a:t>What Is a Vector?</a:t>
            </a:r>
          </a:p>
        </p:txBody>
      </p:sp>
      <p:sp>
        <p:nvSpPr>
          <p:cNvPr id="5" name="Shape 2"/>
          <p:cNvSpPr/>
          <p:nvPr/>
        </p:nvSpPr>
        <p:spPr>
          <a:xfrm>
            <a:off x="457200" y="2098141"/>
            <a:ext cx="3703309" cy="6272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Shape 3"/>
          <p:cNvSpPr/>
          <p:nvPr/>
        </p:nvSpPr>
        <p:spPr>
          <a:xfrm>
            <a:off x="457200" y="2098141"/>
            <a:ext cx="21431" cy="6272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457200" y="2098142"/>
            <a:ext cx="3703309" cy="59574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altLang="zh-CN" sz="900" dirty="0"/>
              <a:t>A vector is a quantity that has both magnitude and direction. In a vector space, it is represented by an ordered pair of numbers.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457200" y="3127587"/>
            <a:ext cx="1606209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zh-CN" sz="1000" b="1" dirty="0"/>
              <a:t>How to Represent a 2D Vector</a:t>
            </a:r>
          </a:p>
        </p:txBody>
      </p:sp>
      <p:sp>
        <p:nvSpPr>
          <p:cNvPr id="9" name="Shape 6"/>
          <p:cNvSpPr/>
          <p:nvPr/>
        </p:nvSpPr>
        <p:spPr>
          <a:xfrm>
            <a:off x="467915" y="3356187"/>
            <a:ext cx="3703309" cy="594843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457200" y="3356187"/>
            <a:ext cx="21431" cy="594843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457200" y="3356188"/>
            <a:ext cx="3703309" cy="59484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altLang="zh-CN" sz="900" dirty="0"/>
              <a:t>It is usually written as (</a:t>
            </a:r>
            <a:r>
              <a:rPr lang="zh-CN" altLang="en-US" sz="900" dirty="0"/>
              <a:t>𝑥</a:t>
            </a:r>
            <a:r>
              <a:rPr lang="en-US" altLang="zh-CN" sz="900" dirty="0"/>
              <a:t>,</a:t>
            </a:r>
            <a:r>
              <a:rPr lang="zh-CN" altLang="en-US" sz="900" dirty="0"/>
              <a:t>𝑦</a:t>
            </a:r>
            <a:r>
              <a:rPr lang="en-US" altLang="zh-CN" sz="900" dirty="0"/>
              <a:t>), which gives the vector’s components in the </a:t>
            </a:r>
            <a:r>
              <a:rPr lang="zh-CN" altLang="en-US" sz="900" dirty="0"/>
              <a:t>𝑥</a:t>
            </a:r>
            <a:r>
              <a:rPr lang="en-US" altLang="zh-CN" sz="900" dirty="0"/>
              <a:t>- and </a:t>
            </a:r>
            <a:r>
              <a:rPr lang="zh-CN" altLang="en-US" sz="900" dirty="0"/>
              <a:t>𝑦</a:t>
            </a:r>
            <a:r>
              <a:rPr lang="en-US" altLang="zh-CN" sz="900" dirty="0"/>
              <a:t>-directions.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4983491" y="1142972"/>
            <a:ext cx="3703309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向量场的几何表示</a:t>
            </a:r>
            <a:endParaRPr lang="en-US" sz="727" dirty="0"/>
          </a:p>
        </p:txBody>
      </p:sp>
      <p:sp>
        <p:nvSpPr>
          <p:cNvPr id="2" name="Text 5">
            <a:extLst>
              <a:ext uri="{FF2B5EF4-FFF2-40B4-BE49-F238E27FC236}">
                <a16:creationId xmlns:a16="http://schemas.microsoft.com/office/drawing/2014/main" id="{9F8D7A92-9E55-311A-829C-7E399F4F0F09}"/>
              </a:ext>
            </a:extLst>
          </p:cNvPr>
          <p:cNvSpPr/>
          <p:nvPr/>
        </p:nvSpPr>
        <p:spPr>
          <a:xfrm>
            <a:off x="457199" y="1832371"/>
            <a:ext cx="1502014" cy="2001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700"/>
              </a:lnSpc>
            </a:pPr>
            <a:r>
              <a:rPr lang="en-US" altLang="zh-CN" sz="1100" b="1" dirty="0"/>
              <a:t>Two-Dimensional Vectors</a:t>
            </a:r>
            <a:endParaRPr lang="en-US" sz="1050" b="1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9AB88557-0500-6C7B-6EF8-31BC72D9CF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836" y="1051218"/>
            <a:ext cx="3788774" cy="3633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887E5-DA07-B61D-88BD-80BE16A03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D3D7E424-993E-550E-85CF-118F612E1706}"/>
              </a:ext>
            </a:extLst>
          </p:cNvPr>
          <p:cNvSpPr/>
          <p:nvPr/>
        </p:nvSpPr>
        <p:spPr>
          <a:xfrm>
            <a:off x="457200" y="886578"/>
            <a:ext cx="4589270" cy="4308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zh-CN" sz="2800" b="1" dirty="0"/>
              <a:t>Rules for 2D Vector Operations</a:t>
            </a:r>
          </a:p>
        </p:txBody>
      </p:sp>
      <p:sp>
        <p:nvSpPr>
          <p:cNvPr id="5" name="Shape 2">
            <a:hlinkClick r:id="rId3" action="ppaction://hlinkfile"/>
            <a:extLst>
              <a:ext uri="{FF2B5EF4-FFF2-40B4-BE49-F238E27FC236}">
                <a16:creationId xmlns:a16="http://schemas.microsoft.com/office/drawing/2014/main" id="{373AF0FF-37C2-4ACA-9BCA-038016979297}"/>
              </a:ext>
            </a:extLst>
          </p:cNvPr>
          <p:cNvSpPr/>
          <p:nvPr/>
        </p:nvSpPr>
        <p:spPr>
          <a:xfrm>
            <a:off x="457200" y="2098140"/>
            <a:ext cx="3703309" cy="21681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FD286B42-D474-8B11-2DAD-2C34FBDAC6BD}"/>
              </a:ext>
            </a:extLst>
          </p:cNvPr>
          <p:cNvSpPr/>
          <p:nvPr/>
        </p:nvSpPr>
        <p:spPr>
          <a:xfrm>
            <a:off x="457200" y="2098140"/>
            <a:ext cx="21431" cy="216816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4">
                <a:extLst>
                  <a:ext uri="{FF2B5EF4-FFF2-40B4-BE49-F238E27FC236}">
                    <a16:creationId xmlns:a16="http://schemas.microsoft.com/office/drawing/2014/main" id="{0D2A54A1-497D-B0AF-76EC-271F26C32CE1}"/>
                  </a:ext>
                </a:extLst>
              </p:cNvPr>
              <p:cNvSpPr/>
              <p:nvPr/>
            </p:nvSpPr>
            <p:spPr>
              <a:xfrm>
                <a:off x="457200" y="2098142"/>
                <a:ext cx="3703309" cy="2168158"/>
              </a:xfrm>
              <a:prstGeom prst="rect">
                <a:avLst/>
              </a:prstGeom>
              <a:noFill/>
              <a:ln/>
            </p:spPr>
            <p:txBody>
              <a:bodyPr wrap="square" lIns="127508" tIns="102108" rIns="127508" bIns="102108" rtlCol="0" anchor="t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altLang="zh-CN" sz="1050" b="1" dirty="0"/>
                  <a:t>Addition:</a:t>
                </a:r>
                <a:r>
                  <a:rPr lang="en-US" altLang="zh-CN" sz="1050" dirty="0"/>
                  <a:t> Add the components separately.</a:t>
                </a:r>
                <a:br>
                  <a:rPr lang="en-US" altLang="zh-CN" sz="1050" dirty="0"/>
                </a:br>
                <a:r>
                  <a:rPr lang="en-US" altLang="zh-CN" sz="1050" b="1" dirty="0"/>
                  <a:t>Subtraction:</a:t>
                </a:r>
                <a:r>
                  <a:rPr lang="en-US" altLang="zh-CN" sz="1050" dirty="0"/>
                  <a:t> Subtract the components separately.</a:t>
                </a:r>
                <a:br>
                  <a:rPr lang="en-US" altLang="zh-CN" sz="1050" dirty="0"/>
                </a:br>
                <a:r>
                  <a:rPr lang="en-US" altLang="zh-CN" sz="1050" b="1" dirty="0"/>
                  <a:t>Scalar Multiplication:</a:t>
                </a:r>
                <a:r>
                  <a:rPr lang="en-US" altLang="zh-CN" sz="1050" dirty="0"/>
                  <a:t> Multiply each component by the scalar.</a:t>
                </a:r>
                <a:br>
                  <a:rPr lang="en-US" altLang="zh-CN" sz="1050" dirty="0"/>
                </a:br>
                <a:r>
                  <a:rPr lang="en-US" altLang="zh-CN" sz="1050" b="1" dirty="0"/>
                  <a:t>Magnitude:</a:t>
                </a:r>
                <a:r>
                  <a:rPr lang="en-US" altLang="zh-CN" sz="1050" dirty="0"/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ar-AE" altLang="zh-CN" sz="105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ar-AE" altLang="zh-CN" sz="105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ar-AE" sz="10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ar-AE" altLang="zh-CN" sz="105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ar-AE" altLang="zh-CN" sz="1050" i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ar-AE" altLang="zh-CN" sz="105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ar-AE" sz="105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ar-AE" altLang="zh-CN" sz="105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br>
                  <a:rPr lang="ar-AE" altLang="zh-CN" sz="1050" dirty="0"/>
                </a:br>
                <a:r>
                  <a:rPr lang="en-US" altLang="zh-CN" sz="1050" b="1" dirty="0"/>
                  <a:t>Dot Product:</a:t>
                </a:r>
                <a:r>
                  <a:rPr lang="en-US" altLang="zh-CN" sz="105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0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sz="105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altLang="zh-CN" sz="105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ar-AE" altLang="zh-CN" sz="10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sz="105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altLang="zh-CN" sz="1050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altLang="zh-CN" sz="1050" i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altLang="zh-CN" sz="10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sz="105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 altLang="zh-CN" sz="105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ar-AE" altLang="zh-CN" sz="10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sz="105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 altLang="zh-CN" sz="1050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50" dirty="0"/>
                  <a:t> (used to determine directional relationships)</a:t>
                </a:r>
                <a:endParaRPr lang="zh-CN" altLang="en-US" sz="1050" dirty="0"/>
              </a:p>
            </p:txBody>
          </p:sp>
        </mc:Choice>
        <mc:Fallback xmlns="">
          <p:sp>
            <p:nvSpPr>
              <p:cNvPr id="7" name="Text 4">
                <a:extLst>
                  <a:ext uri="{FF2B5EF4-FFF2-40B4-BE49-F238E27FC236}">
                    <a16:creationId xmlns:a16="http://schemas.microsoft.com/office/drawing/2014/main" id="{0D2A54A1-497D-B0AF-76EC-271F26C32C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098142"/>
                <a:ext cx="3703309" cy="216815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12">
            <a:extLst>
              <a:ext uri="{FF2B5EF4-FFF2-40B4-BE49-F238E27FC236}">
                <a16:creationId xmlns:a16="http://schemas.microsoft.com/office/drawing/2014/main" id="{A2665819-5BD0-D871-E7CF-A72F398570D5}"/>
              </a:ext>
            </a:extLst>
          </p:cNvPr>
          <p:cNvSpPr/>
          <p:nvPr/>
        </p:nvSpPr>
        <p:spPr>
          <a:xfrm>
            <a:off x="4983491" y="1142972"/>
            <a:ext cx="3703309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向量场的几何表示</a:t>
            </a:r>
            <a:endParaRPr lang="en-US" sz="727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C8078EDF-1E8C-DF2C-1870-93E744C176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836" y="1051218"/>
            <a:ext cx="3788774" cy="3633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8518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3E1C0-5335-07B2-26CC-AF1CD35F0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898672CF-B6A3-DD7C-9F1E-3F33A3EF6653}"/>
              </a:ext>
            </a:extLst>
          </p:cNvPr>
          <p:cNvSpPr/>
          <p:nvPr/>
        </p:nvSpPr>
        <p:spPr>
          <a:xfrm>
            <a:off x="457200" y="886578"/>
            <a:ext cx="3043397" cy="4103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3200"/>
              </a:lnSpc>
            </a:pPr>
            <a:r>
              <a:rPr lang="en-US" altLang="zh-CN" sz="2800" dirty="0"/>
              <a:t>What Is a 3D Vector?</a:t>
            </a:r>
            <a:endParaRPr lang="en-US" sz="2436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B359D1BD-94AF-6B2E-E446-02FBDE8B83EF}"/>
              </a:ext>
            </a:extLst>
          </p:cNvPr>
          <p:cNvSpPr/>
          <p:nvPr/>
        </p:nvSpPr>
        <p:spPr>
          <a:xfrm>
            <a:off x="457200" y="1939881"/>
            <a:ext cx="3703309" cy="80092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B719FFA3-E385-BA7A-EB99-486AB546AE2A}"/>
              </a:ext>
            </a:extLst>
          </p:cNvPr>
          <p:cNvSpPr/>
          <p:nvPr/>
        </p:nvSpPr>
        <p:spPr>
          <a:xfrm>
            <a:off x="457200" y="1939881"/>
            <a:ext cx="21431" cy="800924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200A180-08E1-D160-841E-979FCE761F39}"/>
              </a:ext>
            </a:extLst>
          </p:cNvPr>
          <p:cNvSpPr/>
          <p:nvPr/>
        </p:nvSpPr>
        <p:spPr>
          <a:xfrm>
            <a:off x="457200" y="1939882"/>
            <a:ext cx="3703309" cy="800925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altLang="zh-CN" sz="900" dirty="0"/>
              <a:t>A vector is a quantity that has both magnitude and direction. In three-dimensional space, a vector is represented by an ordered triple of numbers.</a:t>
            </a:r>
            <a:endParaRPr lang="en-US" sz="885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8DB328E-C26E-81D9-218F-B1D55440E1F3}"/>
              </a:ext>
            </a:extLst>
          </p:cNvPr>
          <p:cNvSpPr/>
          <p:nvPr/>
        </p:nvSpPr>
        <p:spPr>
          <a:xfrm>
            <a:off x="457200" y="2956140"/>
            <a:ext cx="1771319" cy="2007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700"/>
              </a:lnSpc>
            </a:pPr>
            <a:r>
              <a:rPr lang="en-US" altLang="zh-CN" sz="1100" b="1" dirty="0"/>
              <a:t>How to Represent a 3D Vector</a:t>
            </a:r>
            <a:endParaRPr lang="en-US" sz="1050" b="1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336A2EBD-A6B5-6033-9EE2-42EAF761867A}"/>
              </a:ext>
            </a:extLst>
          </p:cNvPr>
          <p:cNvSpPr/>
          <p:nvPr/>
        </p:nvSpPr>
        <p:spPr>
          <a:xfrm>
            <a:off x="467915" y="3184741"/>
            <a:ext cx="3703309" cy="59484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E7F3F3C5-8EDF-D9EC-4ED5-14ACB295889C}"/>
              </a:ext>
            </a:extLst>
          </p:cNvPr>
          <p:cNvSpPr/>
          <p:nvPr/>
        </p:nvSpPr>
        <p:spPr>
          <a:xfrm>
            <a:off x="457200" y="3184741"/>
            <a:ext cx="21431" cy="594842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4D0FA379-B3D4-FD2C-4BB0-95BFCB05A865}"/>
              </a:ext>
            </a:extLst>
          </p:cNvPr>
          <p:cNvSpPr/>
          <p:nvPr/>
        </p:nvSpPr>
        <p:spPr>
          <a:xfrm>
            <a:off x="457200" y="3184741"/>
            <a:ext cx="3703309" cy="59484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altLang="zh-CN" sz="900" dirty="0"/>
              <a:t>It is usually written as (</a:t>
            </a:r>
            <a:r>
              <a:rPr lang="zh-CN" altLang="en-US" sz="900" dirty="0"/>
              <a:t>𝑥</a:t>
            </a:r>
            <a:r>
              <a:rPr lang="en-US" altLang="zh-CN" sz="900" dirty="0"/>
              <a:t>,</a:t>
            </a:r>
            <a:r>
              <a:rPr lang="zh-CN" altLang="en-US" sz="900" dirty="0"/>
              <a:t>𝑦</a:t>
            </a:r>
            <a:r>
              <a:rPr lang="en-US" altLang="zh-CN" sz="900" dirty="0"/>
              <a:t>,</a:t>
            </a:r>
            <a:r>
              <a:rPr lang="zh-CN" altLang="en-US" sz="900" dirty="0"/>
              <a:t>𝑧</a:t>
            </a:r>
            <a:r>
              <a:rPr lang="en-US" altLang="zh-CN" sz="900" dirty="0"/>
              <a:t>) which gives the vector’s components in the </a:t>
            </a:r>
            <a:r>
              <a:rPr lang="zh-CN" altLang="en-US" sz="900" dirty="0"/>
              <a:t>𝑥</a:t>
            </a:r>
            <a:r>
              <a:rPr lang="en-US" altLang="zh-CN" sz="900" dirty="0"/>
              <a:t>-, </a:t>
            </a:r>
            <a:r>
              <a:rPr lang="zh-CN" altLang="en-US" sz="900" dirty="0"/>
              <a:t>𝑦</a:t>
            </a:r>
            <a:r>
              <a:rPr lang="en-US" altLang="zh-CN" sz="900" dirty="0"/>
              <a:t>-, and </a:t>
            </a:r>
            <a:r>
              <a:rPr lang="zh-CN" altLang="en-US" sz="900" dirty="0"/>
              <a:t>𝑧</a:t>
            </a:r>
            <a:r>
              <a:rPr lang="en-US" altLang="zh-CN" sz="900" dirty="0"/>
              <a:t>-directions.</a:t>
            </a:r>
            <a:endParaRPr lang="en-US" sz="885" dirty="0"/>
          </a:p>
        </p:txBody>
      </p:sp>
      <p:sp>
        <p:nvSpPr>
          <p:cNvPr id="12" name="Text 9">
            <a:hlinkClick r:id="rId3" action="ppaction://hlinkfile"/>
            <a:extLst>
              <a:ext uri="{FF2B5EF4-FFF2-40B4-BE49-F238E27FC236}">
                <a16:creationId xmlns:a16="http://schemas.microsoft.com/office/drawing/2014/main" id="{1DDF8F24-9F44-CA51-41BA-DD504E91C931}"/>
              </a:ext>
            </a:extLst>
          </p:cNvPr>
          <p:cNvSpPr/>
          <p:nvPr/>
        </p:nvSpPr>
        <p:spPr>
          <a:xfrm>
            <a:off x="457200" y="4093266"/>
            <a:ext cx="3459280" cy="1969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altLang="zh-CN" sz="987" b="1" dirty="0">
                <a:solidFill>
                  <a:srgbClr val="333333"/>
                </a:solidFill>
              </a:rPr>
              <a:t>The same operation rules also apply to three-dimensional vectors.</a:t>
            </a:r>
            <a:endParaRPr lang="en-US" sz="987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5FD3ADB1-FAFA-5D3B-8589-49108B541E5A}"/>
              </a:ext>
            </a:extLst>
          </p:cNvPr>
          <p:cNvSpPr/>
          <p:nvPr/>
        </p:nvSpPr>
        <p:spPr>
          <a:xfrm>
            <a:off x="4983491" y="1142972"/>
            <a:ext cx="3703309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向量场的几何表示</a:t>
            </a:r>
            <a:endParaRPr lang="en-US" sz="727" dirty="0"/>
          </a:p>
        </p:txBody>
      </p:sp>
      <p:sp>
        <p:nvSpPr>
          <p:cNvPr id="2" name="Text 5">
            <a:extLst>
              <a:ext uri="{FF2B5EF4-FFF2-40B4-BE49-F238E27FC236}">
                <a16:creationId xmlns:a16="http://schemas.microsoft.com/office/drawing/2014/main" id="{CDE64979-A25A-29CC-1847-DBE905304793}"/>
              </a:ext>
            </a:extLst>
          </p:cNvPr>
          <p:cNvSpPr/>
          <p:nvPr/>
        </p:nvSpPr>
        <p:spPr>
          <a:xfrm>
            <a:off x="457199" y="1674111"/>
            <a:ext cx="1723100" cy="2034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700"/>
              </a:lnSpc>
            </a:pPr>
            <a:r>
              <a:rPr lang="en-US" altLang="zh-CN" sz="1200" b="1" dirty="0"/>
              <a:t>Three-Dimensional Vectors</a:t>
            </a:r>
            <a:endParaRPr lang="en-US" sz="1100" b="1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" name="AutoShape 2" descr="三维向量的可视化">
            <a:extLst>
              <a:ext uri="{FF2B5EF4-FFF2-40B4-BE49-F238E27FC236}">
                <a16:creationId xmlns:a16="http://schemas.microsoft.com/office/drawing/2014/main" id="{70370789-E636-8116-9AFB-B5C461CB00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A9DDD205-679A-9327-26C6-5D7B66948B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4077" y="395626"/>
            <a:ext cx="4322521" cy="4352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066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550DC-F66E-F343-FF3A-10CDD553D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03918929-059F-F094-0735-69D8C0B60643}"/>
              </a:ext>
            </a:extLst>
          </p:cNvPr>
          <p:cNvSpPr/>
          <p:nvPr/>
        </p:nvSpPr>
        <p:spPr>
          <a:xfrm>
            <a:off x="457200" y="2431554"/>
            <a:ext cx="1758495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zh-CN" sz="1100" b="1" dirty="0"/>
              <a:t>Two-Dimensional Vector Field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B28D87B5-D7A2-4C02-8F6C-EF82CDE0D086}"/>
              </a:ext>
            </a:extLst>
          </p:cNvPr>
          <p:cNvSpPr/>
          <p:nvPr/>
        </p:nvSpPr>
        <p:spPr>
          <a:xfrm>
            <a:off x="457200" y="2803028"/>
            <a:ext cx="3703309" cy="835363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41A110BA-8E8B-9FA6-2EC9-D5B7D85631E8}"/>
              </a:ext>
            </a:extLst>
          </p:cNvPr>
          <p:cNvSpPr/>
          <p:nvPr/>
        </p:nvSpPr>
        <p:spPr>
          <a:xfrm>
            <a:off x="457200" y="2803028"/>
            <a:ext cx="21431" cy="835363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CD0692B-8DB4-E092-69EE-818EE70F4C81}"/>
              </a:ext>
            </a:extLst>
          </p:cNvPr>
          <p:cNvSpPr/>
          <p:nvPr/>
        </p:nvSpPr>
        <p:spPr>
          <a:xfrm>
            <a:off x="457200" y="2803029"/>
            <a:ext cx="3703309" cy="800732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s-ES" sz="885" b="1" dirty="0">
                <a:solidFill>
                  <a:srgbClr val="333333"/>
                </a:solidFill>
              </a:rPr>
              <a:t>F(x,y)=(P(x,y),Q(x,y))</a:t>
            </a:r>
            <a:endParaRPr lang="en-US" sz="942" dirty="0">
              <a:solidFill>
                <a:srgbClr val="333333"/>
              </a:solidFill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en-US" altLang="zh-CN" sz="885" dirty="0"/>
              <a:t>Interpretation: Each point (</a:t>
            </a:r>
            <a:r>
              <a:rPr lang="zh-CN" altLang="en-US" sz="885" dirty="0"/>
              <a:t>𝑥</a:t>
            </a:r>
            <a:r>
              <a:rPr lang="en-US" altLang="zh-CN" sz="885" dirty="0"/>
              <a:t>,</a:t>
            </a:r>
            <a:r>
              <a:rPr lang="zh-CN" altLang="en-US" sz="885" dirty="0"/>
              <a:t>𝑦</a:t>
            </a:r>
            <a:r>
              <a:rPr lang="en-US" altLang="zh-CN" sz="885" dirty="0"/>
              <a:t>) in the plane corresponds to a 2D vector whose components are given by the functions </a:t>
            </a:r>
            <a:r>
              <a:rPr lang="zh-CN" altLang="en-US" sz="885" dirty="0"/>
              <a:t>𝑃</a:t>
            </a:r>
            <a:r>
              <a:rPr lang="en-US" altLang="zh-CN" sz="885" dirty="0"/>
              <a:t> and </a:t>
            </a:r>
            <a:r>
              <a:rPr lang="zh-CN" altLang="en-US" sz="885" dirty="0"/>
              <a:t>𝑄</a:t>
            </a:r>
            <a:r>
              <a:rPr lang="en-US" altLang="zh-CN" sz="885" dirty="0"/>
              <a:t>.</a:t>
            </a:r>
            <a:endParaRPr lang="en-US" sz="885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B0C803E5-E86D-FB9F-E63F-91491098A1A6}"/>
              </a:ext>
            </a:extLst>
          </p:cNvPr>
          <p:cNvSpPr/>
          <p:nvPr/>
        </p:nvSpPr>
        <p:spPr>
          <a:xfrm>
            <a:off x="4983491" y="1142972"/>
            <a:ext cx="3703309" cy="2857500"/>
          </a:xfrm>
          <a:prstGeom prst="rect">
            <a:avLst/>
          </a:prstGeom>
          <a:solidFill>
            <a:srgbClr val="E0E0E0"/>
          </a:solidFill>
          <a:ln w="18288">
            <a:solidFill>
              <a:srgbClr val="999999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51717FDB-54AF-1A25-9D96-035AFC2B0122}"/>
              </a:ext>
            </a:extLst>
          </p:cNvPr>
          <p:cNvSpPr/>
          <p:nvPr/>
        </p:nvSpPr>
        <p:spPr>
          <a:xfrm>
            <a:off x="4983491" y="1142972"/>
            <a:ext cx="3703309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向量场的几何表示</a:t>
            </a:r>
            <a:endParaRPr lang="en-US" sz="727" dirty="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4B2C5471-4EB2-6186-B0BF-17DA7E6F4117}"/>
              </a:ext>
            </a:extLst>
          </p:cNvPr>
          <p:cNvSpPr/>
          <p:nvPr/>
        </p:nvSpPr>
        <p:spPr>
          <a:xfrm>
            <a:off x="457200" y="1548072"/>
            <a:ext cx="640047" cy="2041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700"/>
              </a:lnSpc>
            </a:pPr>
            <a:r>
              <a:rPr lang="en-US" altLang="zh-CN" sz="1200" b="1" dirty="0"/>
              <a:t>Definition</a:t>
            </a:r>
            <a:endParaRPr lang="en-US" sz="1200" b="1" dirty="0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E84ABBE7-A729-F1F5-55C0-DA28467E7491}"/>
              </a:ext>
            </a:extLst>
          </p:cNvPr>
          <p:cNvSpPr/>
          <p:nvPr/>
        </p:nvSpPr>
        <p:spPr>
          <a:xfrm>
            <a:off x="457200" y="1836571"/>
            <a:ext cx="3703309" cy="396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altLang="zh-CN" sz="1100" dirty="0"/>
              <a:t>A vector field is a function that assigns a vector to every point in space.</a:t>
            </a:r>
            <a:endParaRPr lang="en-US" sz="1100" dirty="0"/>
          </a:p>
        </p:txBody>
      </p:sp>
      <p:pic>
        <p:nvPicPr>
          <p:cNvPr id="4098" name="Picture 2" descr="向量场 $f(x, y) = (x, y)$">
            <a:extLst>
              <a:ext uri="{FF2B5EF4-FFF2-40B4-BE49-F238E27FC236}">
                <a16:creationId xmlns:a16="http://schemas.microsoft.com/office/drawing/2014/main" id="{97CD4E98-B4C4-D534-ECFC-3FA90D2466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77" r="12266"/>
          <a:stretch>
            <a:fillRect/>
          </a:stretch>
        </p:blipFill>
        <p:spPr bwMode="auto">
          <a:xfrm>
            <a:off x="4470888" y="969828"/>
            <a:ext cx="4409892" cy="3352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518753E7-E5B8-7AFD-43D8-B63488FB8A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888" y="4119060"/>
            <a:ext cx="884177" cy="401114"/>
          </a:xfrm>
          <a:prstGeom prst="rect">
            <a:avLst/>
          </a:prstGeom>
        </p:spPr>
      </p:pic>
      <p:sp>
        <p:nvSpPr>
          <p:cNvPr id="27" name="Text 1">
            <a:extLst>
              <a:ext uri="{FF2B5EF4-FFF2-40B4-BE49-F238E27FC236}">
                <a16:creationId xmlns:a16="http://schemas.microsoft.com/office/drawing/2014/main" id="{F76897FB-57BD-69D5-81AB-61B3BFA8DF7A}"/>
              </a:ext>
            </a:extLst>
          </p:cNvPr>
          <p:cNvSpPr/>
          <p:nvPr/>
        </p:nvSpPr>
        <p:spPr>
          <a:xfrm>
            <a:off x="452805" y="3820478"/>
            <a:ext cx="447238" cy="1969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altLang="zh-CN" sz="987" b="1" dirty="0">
                <a:solidFill>
                  <a:srgbClr val="333333"/>
                </a:solidFill>
              </a:rPr>
              <a:t>Example</a:t>
            </a:r>
            <a:endParaRPr lang="en-US" sz="987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D12391DF-2DE8-4DEA-623E-AD18C66622C5}"/>
              </a:ext>
            </a:extLst>
          </p:cNvPr>
          <p:cNvSpPr/>
          <p:nvPr/>
        </p:nvSpPr>
        <p:spPr>
          <a:xfrm>
            <a:off x="457200" y="886578"/>
            <a:ext cx="7187737" cy="4103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3200"/>
              </a:lnSpc>
            </a:pPr>
            <a:r>
              <a:rPr lang="en-US" altLang="zh-CN" sz="2800" dirty="0"/>
              <a:t>Definition and Representation of 2D Vector Fields</a:t>
            </a:r>
            <a:endParaRPr lang="en-US" sz="2436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186003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AB2C3-C147-ADFD-185A-C559B501C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e 0" descr="preencoded.png">
            <a:hlinkClick r:id="rId3" action="ppaction://hlinkfile"/>
            <a:extLst>
              <a:ext uri="{FF2B5EF4-FFF2-40B4-BE49-F238E27FC236}">
                <a16:creationId xmlns:a16="http://schemas.microsoft.com/office/drawing/2014/main" id="{C7A09096-12C2-600C-C135-223E5136CB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108080"/>
            <a:ext cx="9144000" cy="2035419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524E4A0D-B4E6-DBBD-C5E5-1F9C1C824229}"/>
              </a:ext>
            </a:extLst>
          </p:cNvPr>
          <p:cNvSpPr/>
          <p:nvPr/>
        </p:nvSpPr>
        <p:spPr>
          <a:xfrm>
            <a:off x="457200" y="886578"/>
            <a:ext cx="6429004" cy="4308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zh-CN" sz="2800" b="1" dirty="0"/>
              <a:t>Several Ways to Represent 2D Vector Fields</a:t>
            </a:r>
            <a:endParaRPr lang="en-US" altLang="zh-CN" sz="28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B759908-119B-EB73-B139-D463D202CB63}"/>
              </a:ext>
            </a:extLst>
          </p:cNvPr>
          <p:cNvSpPr txBox="1"/>
          <p:nvPr/>
        </p:nvSpPr>
        <p:spPr>
          <a:xfrm>
            <a:off x="457200" y="2310140"/>
            <a:ext cx="23871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/>
              <a:t>常向量场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（</a:t>
            </a:r>
            <a:r>
              <a:rPr lang="en-US" altLang="zh-CN" sz="1400" b="1" dirty="0"/>
              <a:t>Constant Vector Field</a:t>
            </a:r>
            <a:r>
              <a:rPr lang="zh-CN" altLang="en-US" sz="1400" b="1" dirty="0"/>
              <a:t>）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A20BAEA-27AE-72FC-FC49-EB2D0B86DD48}"/>
              </a:ext>
            </a:extLst>
          </p:cNvPr>
          <p:cNvSpPr txBox="1"/>
          <p:nvPr/>
        </p:nvSpPr>
        <p:spPr>
          <a:xfrm>
            <a:off x="3103876" y="2310140"/>
            <a:ext cx="20703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/>
              <a:t>径向向量场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（</a:t>
            </a:r>
            <a:r>
              <a:rPr lang="en-US" altLang="zh-CN" sz="1400" b="1" dirty="0"/>
              <a:t>Radial Vector Field</a:t>
            </a:r>
            <a:r>
              <a:rPr lang="zh-CN" altLang="en-US" sz="1400" b="1" dirty="0"/>
              <a:t>）</a:t>
            </a:r>
            <a:endParaRPr lang="zh-CN" altLang="en-US" sz="14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142C976-FC11-D0FE-70FF-947B7C04A95B}"/>
              </a:ext>
            </a:extLst>
          </p:cNvPr>
          <p:cNvSpPr txBox="1"/>
          <p:nvPr/>
        </p:nvSpPr>
        <p:spPr>
          <a:xfrm>
            <a:off x="5376496" y="2312290"/>
            <a:ext cx="34377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/>
              <a:t>旋转向量场 </a:t>
            </a:r>
            <a:r>
              <a:rPr lang="en-US" altLang="zh-CN" sz="1400" b="1" dirty="0"/>
              <a:t>/ </a:t>
            </a:r>
            <a:r>
              <a:rPr lang="zh-CN" altLang="en-US" sz="1400" b="1" dirty="0"/>
              <a:t>切向向量场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（</a:t>
            </a:r>
            <a:r>
              <a:rPr lang="en-US" altLang="zh-CN" sz="1400" b="1" dirty="0"/>
              <a:t>Rotational / Tangential Vector Field</a:t>
            </a:r>
            <a:r>
              <a:rPr lang="zh-CN" altLang="en-US" sz="1400" b="1" dirty="0"/>
              <a:t>）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2EE5E402-7A0F-4209-8505-0DE9A897A9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446" y="3203491"/>
            <a:ext cx="1732620" cy="336898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498330E7-B478-4AF3-278B-68AADA3107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3825" y="3238659"/>
            <a:ext cx="1809626" cy="336898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6FF3E2D3-08B6-1A91-3CB6-180AF8F923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8012" y="3246904"/>
            <a:ext cx="1934759" cy="327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683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0951B-CCE3-2994-F3AB-64AB1DFF7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>
            <a:extLst>
              <a:ext uri="{FF2B5EF4-FFF2-40B4-BE49-F238E27FC236}">
                <a16:creationId xmlns:a16="http://schemas.microsoft.com/office/drawing/2014/main" id="{52E93710-D0CC-CE1E-471C-5DD503EC48E2}"/>
              </a:ext>
            </a:extLst>
          </p:cNvPr>
          <p:cNvSpPr/>
          <p:nvPr/>
        </p:nvSpPr>
        <p:spPr>
          <a:xfrm>
            <a:off x="457200" y="2345841"/>
            <a:ext cx="1843453" cy="2007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333333"/>
                </a:solidFill>
              </a:rPr>
              <a:t>Three-Dimensional Vector Field</a:t>
            </a:r>
            <a:endParaRPr lang="en-US" sz="11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46DC8799-DA38-2EE0-561F-063293C49811}"/>
              </a:ext>
            </a:extLst>
          </p:cNvPr>
          <p:cNvSpPr/>
          <p:nvPr/>
        </p:nvSpPr>
        <p:spPr>
          <a:xfrm>
            <a:off x="457200" y="2720915"/>
            <a:ext cx="3703309" cy="810661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0B0662CC-3A97-CE99-A939-EDCE80B71D63}"/>
              </a:ext>
            </a:extLst>
          </p:cNvPr>
          <p:cNvSpPr/>
          <p:nvPr/>
        </p:nvSpPr>
        <p:spPr>
          <a:xfrm>
            <a:off x="457200" y="2720915"/>
            <a:ext cx="21431" cy="810661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A4CA46BC-9499-A0CA-1C8D-577AC59ADB44}"/>
              </a:ext>
            </a:extLst>
          </p:cNvPr>
          <p:cNvSpPr/>
          <p:nvPr/>
        </p:nvSpPr>
        <p:spPr>
          <a:xfrm>
            <a:off x="457200" y="2720916"/>
            <a:ext cx="3703309" cy="799834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pl-PL" sz="885" b="1" dirty="0">
                <a:solidFill>
                  <a:srgbClr val="333333"/>
                </a:solidFill>
              </a:rPr>
              <a:t>F(x,y,z)=(P(x,y,z),Q(x,y,z),R(x,y,z))</a:t>
            </a:r>
            <a:endParaRPr lang="en-US" sz="885" b="1" dirty="0">
              <a:solidFill>
                <a:srgbClr val="333333"/>
              </a:solidFill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en-US" altLang="zh-CN" sz="885" dirty="0"/>
              <a:t>Interpretation: Each point (</a:t>
            </a:r>
            <a:r>
              <a:rPr lang="zh-CN" altLang="en-US" sz="885" dirty="0"/>
              <a:t>𝑥</a:t>
            </a:r>
            <a:r>
              <a:rPr lang="en-US" altLang="zh-CN" sz="885" dirty="0"/>
              <a:t>,</a:t>
            </a:r>
            <a:r>
              <a:rPr lang="zh-CN" altLang="en-US" sz="885" dirty="0"/>
              <a:t>𝑦</a:t>
            </a:r>
            <a:r>
              <a:rPr lang="en-US" altLang="zh-CN" sz="885" dirty="0"/>
              <a:t>,</a:t>
            </a:r>
            <a:r>
              <a:rPr lang="zh-CN" altLang="en-US" sz="885" dirty="0"/>
              <a:t>𝑧</a:t>
            </a:r>
            <a:r>
              <a:rPr lang="en-US" altLang="zh-CN" sz="885" dirty="0"/>
              <a:t>) in space corresponds to a 3D vector whose components are given by the functions </a:t>
            </a:r>
            <a:r>
              <a:rPr lang="zh-CN" altLang="en-US" sz="885" dirty="0"/>
              <a:t>𝑃</a:t>
            </a:r>
            <a:r>
              <a:rPr lang="en-US" altLang="zh-CN" sz="885" dirty="0"/>
              <a:t>, </a:t>
            </a:r>
            <a:r>
              <a:rPr lang="zh-CN" altLang="en-US" sz="885" dirty="0"/>
              <a:t>𝑄</a:t>
            </a:r>
            <a:r>
              <a:rPr lang="en-US" altLang="zh-CN" sz="885" dirty="0"/>
              <a:t>, and </a:t>
            </a:r>
            <a:r>
              <a:rPr lang="zh-CN" altLang="en-US" sz="885" dirty="0"/>
              <a:t>𝑅</a:t>
            </a:r>
            <a:r>
              <a:rPr lang="en-US" altLang="zh-CN" sz="885" dirty="0"/>
              <a:t>.</a:t>
            </a:r>
            <a:endParaRPr lang="en-US" sz="885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2EAEA60B-6ED8-AA8B-BA76-DF5CA782AC2F}"/>
              </a:ext>
            </a:extLst>
          </p:cNvPr>
          <p:cNvSpPr/>
          <p:nvPr/>
        </p:nvSpPr>
        <p:spPr>
          <a:xfrm>
            <a:off x="4983491" y="1142972"/>
            <a:ext cx="3703309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向量场的几何表示</a:t>
            </a:r>
            <a:endParaRPr lang="en-US" sz="727" dirty="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7DA3B13D-55EE-668C-4AF2-D0509598086E}"/>
              </a:ext>
            </a:extLst>
          </p:cNvPr>
          <p:cNvSpPr/>
          <p:nvPr/>
        </p:nvSpPr>
        <p:spPr>
          <a:xfrm>
            <a:off x="457200" y="1548072"/>
            <a:ext cx="640047" cy="2041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altLang="zh-CN" sz="1200" b="1" dirty="0">
                <a:solidFill>
                  <a:srgbClr val="333333"/>
                </a:solidFill>
              </a:rPr>
              <a:t>Definition</a:t>
            </a:r>
            <a:endParaRPr lang="en-US" sz="1200" dirty="0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891597D0-BF77-5A06-AD9F-F9129BEA4102}"/>
              </a:ext>
            </a:extLst>
          </p:cNvPr>
          <p:cNvSpPr/>
          <p:nvPr/>
        </p:nvSpPr>
        <p:spPr>
          <a:xfrm>
            <a:off x="457200" y="1823381"/>
            <a:ext cx="3703309" cy="396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altLang="zh-CN" sz="1100" dirty="0">
                <a:solidFill>
                  <a:srgbClr val="4C4C4C"/>
                </a:solidFill>
              </a:rPr>
              <a:t>A vector field is a function that assigns a vector to every point in space.</a:t>
            </a:r>
            <a:endParaRPr lang="en-US" sz="1100" dirty="0"/>
          </a:p>
        </p:txBody>
      </p:sp>
      <p:pic>
        <p:nvPicPr>
          <p:cNvPr id="12" name="图片 11" descr="图示&#10;&#10;AI 生成的内容可能不正确。">
            <a:extLst>
              <a:ext uri="{FF2B5EF4-FFF2-40B4-BE49-F238E27FC236}">
                <a16:creationId xmlns:a16="http://schemas.microsoft.com/office/drawing/2014/main" id="{52A5E7A5-0E6D-CABB-A817-961AADA0B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7145" y="580498"/>
            <a:ext cx="3928232" cy="4010478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EE70CF36-4266-42AF-1EFA-436C283397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199" y="3934529"/>
            <a:ext cx="1651031" cy="285755"/>
          </a:xfrm>
          <a:prstGeom prst="rect">
            <a:avLst/>
          </a:prstGeom>
        </p:spPr>
      </p:pic>
      <p:sp>
        <p:nvSpPr>
          <p:cNvPr id="19" name="Text 1">
            <a:extLst>
              <a:ext uri="{FF2B5EF4-FFF2-40B4-BE49-F238E27FC236}">
                <a16:creationId xmlns:a16="http://schemas.microsoft.com/office/drawing/2014/main" id="{7C6BEA14-D60E-C95F-13FA-89FECEDC1C3E}"/>
              </a:ext>
            </a:extLst>
          </p:cNvPr>
          <p:cNvSpPr/>
          <p:nvPr/>
        </p:nvSpPr>
        <p:spPr>
          <a:xfrm>
            <a:off x="457200" y="3634949"/>
            <a:ext cx="447238" cy="1969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altLang="zh-CN" sz="987" b="1" dirty="0">
                <a:solidFill>
                  <a:srgbClr val="333333"/>
                </a:solidFill>
              </a:rPr>
              <a:t>Example</a:t>
            </a:r>
            <a:endParaRPr lang="en-US" sz="987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446D77F9-69F0-FCF8-3766-9769C3C211F9}"/>
              </a:ext>
            </a:extLst>
          </p:cNvPr>
          <p:cNvSpPr/>
          <p:nvPr/>
        </p:nvSpPr>
        <p:spPr>
          <a:xfrm>
            <a:off x="457200" y="886578"/>
            <a:ext cx="7360220" cy="4308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zh-CN" sz="2800" b="1" dirty="0"/>
              <a:t>Definition and Representation of 3D Vector Fields</a:t>
            </a:r>
          </a:p>
        </p:txBody>
      </p:sp>
    </p:spTree>
    <p:extLst>
      <p:ext uri="{BB962C8B-B14F-4D97-AF65-F5344CB8AC3E}">
        <p14:creationId xmlns:p14="http://schemas.microsoft.com/office/powerpoint/2010/main" val="10850282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78D8F-7CE3-64D9-3510-27BE5158C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e 0" descr="preencoded.png">
            <a:hlinkClick r:id="rId3" action="ppaction://hlinkfile"/>
            <a:extLst>
              <a:ext uri="{FF2B5EF4-FFF2-40B4-BE49-F238E27FC236}">
                <a16:creationId xmlns:a16="http://schemas.microsoft.com/office/drawing/2014/main" id="{006B3864-ACF8-CE8C-7903-C1C06FCE02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108080"/>
            <a:ext cx="9144000" cy="2035419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A1D0F1AB-1AE6-325D-B86B-04B5350D07AF}"/>
              </a:ext>
            </a:extLst>
          </p:cNvPr>
          <p:cNvSpPr/>
          <p:nvPr/>
        </p:nvSpPr>
        <p:spPr>
          <a:xfrm>
            <a:off x="457200" y="886578"/>
            <a:ext cx="6429004" cy="4308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zh-CN" sz="2800" b="1" dirty="0"/>
              <a:t>Several Ways to Represent 3D Vector Fields</a:t>
            </a:r>
            <a:endParaRPr lang="en-US" altLang="zh-CN" sz="28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70AB1A1-2A92-029E-904B-797821BDAD0B}"/>
              </a:ext>
            </a:extLst>
          </p:cNvPr>
          <p:cNvSpPr txBox="1"/>
          <p:nvPr/>
        </p:nvSpPr>
        <p:spPr>
          <a:xfrm>
            <a:off x="457200" y="2310140"/>
            <a:ext cx="23871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/>
              <a:t>常向量场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（</a:t>
            </a:r>
            <a:r>
              <a:rPr lang="en-US" altLang="zh-CN" sz="1400" b="1" dirty="0"/>
              <a:t>Constant Vector Field</a:t>
            </a:r>
            <a:r>
              <a:rPr lang="zh-CN" altLang="en-US" sz="1400" b="1" dirty="0"/>
              <a:t>）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BB520F1-1DE9-6494-C4BA-3BAEF813003A}"/>
              </a:ext>
            </a:extLst>
          </p:cNvPr>
          <p:cNvSpPr txBox="1"/>
          <p:nvPr/>
        </p:nvSpPr>
        <p:spPr>
          <a:xfrm>
            <a:off x="3103876" y="2310140"/>
            <a:ext cx="20703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/>
              <a:t>径向向量场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（</a:t>
            </a:r>
            <a:r>
              <a:rPr lang="en-US" altLang="zh-CN" sz="1400" b="1" dirty="0"/>
              <a:t>Radial Vector Field</a:t>
            </a:r>
            <a:r>
              <a:rPr lang="zh-CN" altLang="en-US" sz="1400" b="1" dirty="0"/>
              <a:t>）</a:t>
            </a:r>
            <a:endParaRPr lang="zh-CN" altLang="en-US" sz="14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0412F1B-8914-1280-3E68-EAE0E33294E2}"/>
              </a:ext>
            </a:extLst>
          </p:cNvPr>
          <p:cNvSpPr txBox="1"/>
          <p:nvPr/>
        </p:nvSpPr>
        <p:spPr>
          <a:xfrm>
            <a:off x="5376496" y="1754393"/>
            <a:ext cx="34377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/>
              <a:t>旋转向量场 </a:t>
            </a:r>
            <a:r>
              <a:rPr lang="en-US" altLang="zh-CN" sz="1400" b="1" dirty="0"/>
              <a:t>/ </a:t>
            </a:r>
            <a:r>
              <a:rPr lang="zh-CN" altLang="en-US" sz="1400" b="1" dirty="0"/>
              <a:t>切向向量场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（</a:t>
            </a:r>
            <a:r>
              <a:rPr lang="en-US" altLang="zh-CN" sz="1400" b="1" dirty="0"/>
              <a:t>Rotational / Tangential Vector Field</a:t>
            </a:r>
            <a:r>
              <a:rPr lang="zh-CN" altLang="en-US" sz="1400" b="1" dirty="0"/>
              <a:t>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B3D9C63-FE9D-DDF0-D593-877D5A0F84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740" y="3246904"/>
            <a:ext cx="2262032" cy="29839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B93FBE9-BD31-13D3-3569-749D8FC803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9929" y="3288045"/>
            <a:ext cx="2358289" cy="336898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992C8361-1037-6265-5B11-8AAA7F7EE8E3}"/>
              </a:ext>
            </a:extLst>
          </p:cNvPr>
          <p:cNvSpPr txBox="1"/>
          <p:nvPr/>
        </p:nvSpPr>
        <p:spPr>
          <a:xfrm>
            <a:off x="5376496" y="3082075"/>
            <a:ext cx="20703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/>
              <a:t>Around y-axis</a:t>
            </a:r>
            <a:endParaRPr lang="zh-CN" altLang="en-US" sz="14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BCF4933-4FFC-6F5B-FC8F-A360ADCA2A25}"/>
              </a:ext>
            </a:extLst>
          </p:cNvPr>
          <p:cNvSpPr txBox="1"/>
          <p:nvPr/>
        </p:nvSpPr>
        <p:spPr>
          <a:xfrm>
            <a:off x="5376496" y="3730661"/>
            <a:ext cx="20703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/>
              <a:t>Around z-axis</a:t>
            </a:r>
            <a:endParaRPr lang="zh-CN" altLang="en-US" sz="1400" dirty="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50950F00-7383-7EA0-4215-30171ED053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4718" y="2632401"/>
            <a:ext cx="2464171" cy="317647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C584ECDB-9B28-F1FB-7867-1F3559D806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4718" y="3340295"/>
            <a:ext cx="2435294" cy="240642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EDB06A98-FD7A-A8D1-58F8-05DCCDCF6E8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07285" y="3973029"/>
            <a:ext cx="2310160" cy="288770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A103967F-CFC9-C359-DF04-51C360991739}"/>
              </a:ext>
            </a:extLst>
          </p:cNvPr>
          <p:cNvSpPr txBox="1"/>
          <p:nvPr/>
        </p:nvSpPr>
        <p:spPr>
          <a:xfrm>
            <a:off x="5376496" y="2400185"/>
            <a:ext cx="20703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/>
              <a:t>Around x-axis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213114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BF4B5-60ED-400F-7DB7-2B321C2D1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 descr="图表&#10;&#10;AI 生成的内容可能不正确。">
            <a:extLst>
              <a:ext uri="{FF2B5EF4-FFF2-40B4-BE49-F238E27FC236}">
                <a16:creationId xmlns:a16="http://schemas.microsoft.com/office/drawing/2014/main" id="{BA90D018-1829-C7D8-DB22-A4A0E744A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" y="1223100"/>
            <a:ext cx="4585125" cy="2930223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91A92585-F223-A9B8-6DC9-E8A7569B089C}"/>
              </a:ext>
            </a:extLst>
          </p:cNvPr>
          <p:cNvSpPr/>
          <p:nvPr/>
        </p:nvSpPr>
        <p:spPr>
          <a:xfrm>
            <a:off x="5000625" y="980870"/>
            <a:ext cx="3053272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zh-CN" sz="2000" b="1" dirty="0"/>
              <a:t>Visualization of Vector Fields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81A13D6-EB5D-98BB-A664-D68BFC6A6301}"/>
              </a:ext>
            </a:extLst>
          </p:cNvPr>
          <p:cNvSpPr/>
          <p:nvPr/>
        </p:nvSpPr>
        <p:spPr>
          <a:xfrm>
            <a:off x="5000625" y="1616664"/>
            <a:ext cx="1391086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zh-CN" sz="1200" b="1" dirty="0"/>
              <a:t>1. Vector (Arrow) Plot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4">
                <a:extLst>
                  <a:ext uri="{FF2B5EF4-FFF2-40B4-BE49-F238E27FC236}">
                    <a16:creationId xmlns:a16="http://schemas.microsoft.com/office/drawing/2014/main" id="{B12C2479-B201-AD9A-2839-C5E57518D877}"/>
                  </a:ext>
                </a:extLst>
              </p:cNvPr>
              <p:cNvSpPr/>
              <p:nvPr/>
            </p:nvSpPr>
            <p:spPr>
              <a:xfrm>
                <a:off x="5000626" y="1866695"/>
                <a:ext cx="3065865" cy="2289922"/>
              </a:xfrm>
              <a:prstGeom prst="rect">
                <a:avLst/>
              </a:prstGeom>
              <a:noFill/>
              <a:ln/>
            </p:spPr>
            <p:txBody>
              <a:bodyPr wrap="square" lIns="170053" tIns="0" rIns="0" bIns="0" rtlCol="0" anchor="t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r>
                  <a:rPr lang="en-US" altLang="zh-CN" sz="1100" dirty="0"/>
                  <a:t>At selected grid points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altLang="zh-CN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zh-CN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sz="11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ar-AE" sz="11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altLang="zh-CN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sz="11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zh-CN" altLang="ar-AE" sz="11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altLang="zh-CN" sz="1100" dirty="0"/>
                  <a:t>, </a:t>
                </a:r>
                <a:r>
                  <a:rPr lang="en-US" altLang="zh-CN" sz="1100" dirty="0"/>
                  <a:t>we draw the corresponding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ar-AE" altLang="zh-CN" sz="11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ar-AE" sz="11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  <m:d>
                      <m:dPr>
                        <m:sepChr m:val=","/>
                        <m:ctrlPr>
                          <a:rPr lang="ar-AE" altLang="zh-CN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zh-CN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sz="11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ar-AE" sz="11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altLang="zh-CN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sz="11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zh-CN" altLang="ar-AE" sz="11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altLang="zh-CN" sz="1100" dirty="0"/>
                  <a:t>.</a:t>
                </a:r>
                <a:br>
                  <a:rPr lang="ar-AE" altLang="zh-CN" sz="1100" dirty="0"/>
                </a:br>
                <a:r>
                  <a:rPr lang="en-US" altLang="zh-CN" sz="1100" dirty="0"/>
                  <a:t>The arrow indicates the direction, and the arrow length represents the magnitude.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altLang="zh-CN" sz="1100" dirty="0"/>
                  <a:t>This method directly shows the </a:t>
                </a:r>
                <a:r>
                  <a:rPr lang="en-US" altLang="zh-CN" sz="1100" b="1" dirty="0"/>
                  <a:t>local directional changes</a:t>
                </a:r>
                <a:r>
                  <a:rPr lang="en-US" altLang="zh-CN" sz="1100" dirty="0"/>
                  <a:t> and </a:t>
                </a:r>
                <a:r>
                  <a:rPr lang="en-US" altLang="zh-CN" sz="1100" b="1" dirty="0"/>
                  <a:t>strength variations</a:t>
                </a:r>
                <a:r>
                  <a:rPr lang="en-US" altLang="zh-CN" sz="1100" dirty="0"/>
                  <a:t> of the field at different positions.</a:t>
                </a:r>
                <a:br>
                  <a:rPr lang="en-US" altLang="zh-CN" sz="1100" dirty="0"/>
                </a:br>
                <a:r>
                  <a:rPr lang="en-US" altLang="zh-CN" sz="1100" dirty="0"/>
                  <a:t>It is the most fundamental way to visualize a vector field.</a:t>
                </a:r>
              </a:p>
            </p:txBody>
          </p:sp>
        </mc:Choice>
        <mc:Fallback xmlns="">
          <p:sp>
            <p:nvSpPr>
              <p:cNvPr id="7" name="Text 4">
                <a:extLst>
                  <a:ext uri="{FF2B5EF4-FFF2-40B4-BE49-F238E27FC236}">
                    <a16:creationId xmlns:a16="http://schemas.microsoft.com/office/drawing/2014/main" id="{B12C2479-B201-AD9A-2839-C5E57518D8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0626" y="1866695"/>
                <a:ext cx="3065865" cy="2289922"/>
              </a:xfrm>
              <a:prstGeom prst="rect">
                <a:avLst/>
              </a:prstGeom>
              <a:blipFill>
                <a:blip r:embed="rId4"/>
                <a:stretch>
                  <a:fillRect b="-292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6">
            <a:extLst>
              <a:ext uri="{FF2B5EF4-FFF2-40B4-BE49-F238E27FC236}">
                <a16:creationId xmlns:a16="http://schemas.microsoft.com/office/drawing/2014/main" id="{6C7ABC43-544A-2873-FBBC-D93AF97341CD}"/>
              </a:ext>
            </a:extLst>
          </p:cNvPr>
          <p:cNvSpPr/>
          <p:nvPr/>
        </p:nvSpPr>
        <p:spPr>
          <a:xfrm>
            <a:off x="5000625" y="2499615"/>
            <a:ext cx="171778" cy="16293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endParaRPr lang="en-US" sz="834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9E5ABD99-BDC9-07BB-3465-94CED43FC814}"/>
              </a:ext>
            </a:extLst>
          </p:cNvPr>
          <p:cNvSpPr/>
          <p:nvPr/>
        </p:nvSpPr>
        <p:spPr>
          <a:xfrm>
            <a:off x="5000625" y="4275407"/>
            <a:ext cx="3714750" cy="534505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C099D46F-FEAF-B428-943A-92698AB5D464}"/>
              </a:ext>
            </a:extLst>
          </p:cNvPr>
          <p:cNvSpPr/>
          <p:nvPr/>
        </p:nvSpPr>
        <p:spPr>
          <a:xfrm>
            <a:off x="5000625" y="4275407"/>
            <a:ext cx="21431" cy="53450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DF136085-DF6E-A2FF-5228-747ED32C8CE4}"/>
              </a:ext>
            </a:extLst>
          </p:cNvPr>
          <p:cNvSpPr/>
          <p:nvPr/>
        </p:nvSpPr>
        <p:spPr>
          <a:xfrm>
            <a:off x="5000625" y="4275408"/>
            <a:ext cx="3714750" cy="534505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r>
              <a:rPr lang="en-US" altLang="zh-CN" sz="900" b="1" dirty="0"/>
              <a:t>Visualization is essential for understanding vector fields — it is a core tool.</a:t>
            </a:r>
          </a:p>
        </p:txBody>
      </p:sp>
    </p:spTree>
    <p:extLst>
      <p:ext uri="{BB962C8B-B14F-4D97-AF65-F5344CB8AC3E}">
        <p14:creationId xmlns:p14="http://schemas.microsoft.com/office/powerpoint/2010/main" val="5524204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 descr="图示&#10;&#10;AI 生成的内容可能不正确。">
            <a:extLst>
              <a:ext uri="{FF2B5EF4-FFF2-40B4-BE49-F238E27FC236}">
                <a16:creationId xmlns:a16="http://schemas.microsoft.com/office/drawing/2014/main" id="{76732353-56C2-AD06-13CD-280EA05061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" y="1223100"/>
            <a:ext cx="4656075" cy="293022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00625" y="980870"/>
            <a:ext cx="3053272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zh-CN" sz="2000" b="1" dirty="0"/>
              <a:t>Visualization of Vector Fields</a:t>
            </a:r>
          </a:p>
        </p:txBody>
      </p:sp>
      <p:sp>
        <p:nvSpPr>
          <p:cNvPr id="6" name="Text 3"/>
          <p:cNvSpPr/>
          <p:nvPr/>
        </p:nvSpPr>
        <p:spPr>
          <a:xfrm>
            <a:off x="5000625" y="1616664"/>
            <a:ext cx="908775" cy="184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500"/>
              </a:lnSpc>
            </a:pPr>
            <a:r>
              <a:rPr lang="en-US" altLang="zh-CN" sz="1200" b="1" dirty="0"/>
              <a:t>2. Streamlines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4"/>
              <p:cNvSpPr/>
              <p:nvPr/>
            </p:nvSpPr>
            <p:spPr>
              <a:xfrm>
                <a:off x="5000626" y="1866695"/>
                <a:ext cx="3714750" cy="1782091"/>
              </a:xfrm>
              <a:prstGeom prst="rect">
                <a:avLst/>
              </a:prstGeom>
              <a:noFill/>
              <a:ln/>
            </p:spPr>
            <p:txBody>
              <a:bodyPr wrap="square" lIns="170053" tIns="0" rIns="0" bIns="0" rtlCol="0" anchor="t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r>
                  <a:rPr lang="en-US" altLang="zh-CN" sz="1100" dirty="0"/>
                  <a:t>At selected grid points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altLang="zh-CN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zh-CN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sz="11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ar-AE" sz="11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altLang="zh-CN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sz="11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zh-CN" altLang="ar-AE" sz="11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altLang="zh-CN" sz="1100" dirty="0"/>
                  <a:t>, </a:t>
                </a:r>
                <a:r>
                  <a:rPr lang="en-US" altLang="zh-CN" sz="1100" dirty="0"/>
                  <a:t>we draw the corresponding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ar-AE" altLang="zh-CN" sz="11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ar-AE" sz="11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  <m:d>
                      <m:dPr>
                        <m:sepChr m:val=","/>
                        <m:ctrlPr>
                          <a:rPr lang="ar-AE" altLang="zh-CN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zh-CN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sz="11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ar-AE" sz="11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altLang="zh-CN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sz="11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zh-CN" altLang="ar-AE" sz="11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altLang="zh-CN" sz="1100" dirty="0"/>
                  <a:t>.</a:t>
                </a:r>
                <a:br>
                  <a:rPr lang="ar-AE" altLang="zh-CN" sz="1100" dirty="0"/>
                </a:br>
                <a:r>
                  <a:rPr lang="en-US" altLang="zh-CN" sz="1100" dirty="0"/>
                  <a:t>The arrow indicates the direction, and its length represents the magnitude.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altLang="zh-CN" sz="1100" dirty="0"/>
                  <a:t>This method directly shows the </a:t>
                </a:r>
                <a:r>
                  <a:rPr lang="en-US" altLang="zh-CN" sz="1100" b="1" dirty="0"/>
                  <a:t>local directional changes</a:t>
                </a:r>
                <a:r>
                  <a:rPr lang="en-US" altLang="zh-CN" sz="1100" dirty="0"/>
                  <a:t> and </a:t>
                </a:r>
                <a:r>
                  <a:rPr lang="en-US" altLang="zh-CN" sz="1100" b="1" dirty="0"/>
                  <a:t>strength variations</a:t>
                </a:r>
                <a:r>
                  <a:rPr lang="en-US" altLang="zh-CN" sz="1100" dirty="0"/>
                  <a:t> of the field at different positions.</a:t>
                </a:r>
                <a:br>
                  <a:rPr lang="en-US" altLang="zh-CN" sz="1100" dirty="0"/>
                </a:br>
                <a:r>
                  <a:rPr lang="en-US" altLang="zh-CN" sz="1100" dirty="0"/>
                  <a:t>It is the most fundamental way to visualize a vector field.</a:t>
                </a:r>
              </a:p>
            </p:txBody>
          </p:sp>
        </mc:Choice>
        <mc:Fallback xmlns="">
          <p:sp>
            <p:nvSpPr>
              <p:cNvPr id="7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0626" y="1866695"/>
                <a:ext cx="3714750" cy="1782091"/>
              </a:xfrm>
              <a:prstGeom prst="rect">
                <a:avLst/>
              </a:prstGeom>
              <a:blipFill>
                <a:blip r:embed="rId4"/>
                <a:stretch>
                  <a:fillRect r="-1148" b="-375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5"/>
          <p:cNvSpPr/>
          <p:nvPr/>
        </p:nvSpPr>
        <p:spPr>
          <a:xfrm>
            <a:off x="5000625" y="2249584"/>
            <a:ext cx="65" cy="1742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5000625" y="2499615"/>
            <a:ext cx="171778" cy="16293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5000625" y="3132534"/>
            <a:ext cx="171778" cy="16293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endParaRPr lang="en-US" sz="834" dirty="0"/>
          </a:p>
        </p:txBody>
      </p:sp>
      <p:sp>
        <p:nvSpPr>
          <p:cNvPr id="12" name="Shape 9"/>
          <p:cNvSpPr/>
          <p:nvPr/>
        </p:nvSpPr>
        <p:spPr>
          <a:xfrm>
            <a:off x="5000625" y="3765454"/>
            <a:ext cx="3714750" cy="397176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0"/>
          <p:cNvSpPr/>
          <p:nvPr/>
        </p:nvSpPr>
        <p:spPr>
          <a:xfrm>
            <a:off x="5000625" y="3765454"/>
            <a:ext cx="21431" cy="397176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5000625" y="3765454"/>
            <a:ext cx="3714750" cy="41928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900" dirty="0"/>
              <a:t>Visualization is essential for understanding vector fields.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BB509-76F5-C143-3248-8C00433D0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 descr="图表, 图示&#10;&#10;AI 生成的内容可能不正确。">
            <a:extLst>
              <a:ext uri="{FF2B5EF4-FFF2-40B4-BE49-F238E27FC236}">
                <a16:creationId xmlns:a16="http://schemas.microsoft.com/office/drawing/2014/main" id="{9783ACF4-69B8-AB67-8B5B-63D29A9085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1" y="1209384"/>
            <a:ext cx="4656076" cy="2946187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480E0B1D-A021-CEA2-1DB3-8305A50D6BEE}"/>
              </a:ext>
            </a:extLst>
          </p:cNvPr>
          <p:cNvSpPr/>
          <p:nvPr/>
        </p:nvSpPr>
        <p:spPr>
          <a:xfrm>
            <a:off x="5000625" y="980870"/>
            <a:ext cx="371475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000000"/>
                </a:solidFill>
              </a:rPr>
              <a:t>向量场的可视化</a:t>
            </a:r>
            <a:endParaRPr lang="en-US" sz="1808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38FE86C-D9C3-1E17-C6A1-3CE2E1BF65A5}"/>
              </a:ext>
            </a:extLst>
          </p:cNvPr>
          <p:cNvSpPr/>
          <p:nvPr/>
        </p:nvSpPr>
        <p:spPr>
          <a:xfrm>
            <a:off x="5000625" y="1616664"/>
            <a:ext cx="2014975" cy="1615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zh-CN" sz="1050" b="1" dirty="0"/>
              <a:t>3. Equipotential Lines (Level Curves)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4">
                <a:extLst>
                  <a:ext uri="{FF2B5EF4-FFF2-40B4-BE49-F238E27FC236}">
                    <a16:creationId xmlns:a16="http://schemas.microsoft.com/office/drawing/2014/main" id="{017C4B0C-5518-08A7-FBA2-B1D2D378B6DB}"/>
                  </a:ext>
                </a:extLst>
              </p:cNvPr>
              <p:cNvSpPr/>
              <p:nvPr/>
            </p:nvSpPr>
            <p:spPr>
              <a:xfrm>
                <a:off x="5000626" y="1866695"/>
                <a:ext cx="3714750" cy="2512932"/>
              </a:xfrm>
              <a:prstGeom prst="rect">
                <a:avLst/>
              </a:prstGeom>
              <a:noFill/>
              <a:ln/>
            </p:spPr>
            <p:txBody>
              <a:bodyPr wrap="square" lIns="170053" tIns="0" rIns="0" bIns="0" rtlCol="0" anchor="t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r>
                  <a:rPr lang="en-US" altLang="zh-CN" sz="1100" dirty="0"/>
                  <a:t>When a vector field comes from a potential function </a:t>
                </a:r>
                <a14:m>
                  <m:oMath xmlns:m="http://schemas.openxmlformats.org/officeDocument/2006/math">
                    <m:r>
                      <a:rPr lang="zh-CN" altLang="en-US" sz="1100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sepChr m:val=","/>
                        <m:ctrlPr>
                          <a:rPr lang="ar-AE" altLang="zh-CN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ar-AE" sz="11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zh-CN" altLang="ar-AE" sz="11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ar-AE" altLang="zh-CN" sz="1100" dirty="0"/>
                  <a:t>, </a:t>
                </a:r>
                <a:r>
                  <a:rPr lang="en-US" altLang="zh-CN" sz="1100" dirty="0"/>
                  <a:t>we can draw the level curves of the potential function.</a:t>
                </a:r>
                <a:br>
                  <a:rPr lang="en-US" altLang="zh-CN" sz="1100" dirty="0"/>
                </a:br>
                <a:r>
                  <a:rPr lang="en-US" altLang="zh-CN" sz="1100" dirty="0"/>
                  <a:t>Level curves highlight the locations in the field where the “energy or potential value is the same,”</a:t>
                </a:r>
                <a:br>
                  <a:rPr lang="en-US" altLang="zh-CN" sz="1100" dirty="0"/>
                </a:br>
                <a:r>
                  <a:rPr lang="en-US" altLang="zh-CN" sz="1100" dirty="0"/>
                  <a:t>showing the </a:t>
                </a:r>
                <a:r>
                  <a:rPr lang="en-US" altLang="zh-CN" sz="1100" b="1" dirty="0"/>
                  <a:t>gradient direction</a:t>
                </a:r>
                <a:r>
                  <a:rPr lang="en-US" altLang="zh-CN" sz="1100" dirty="0"/>
                  <a:t> (always perpendicular to level curves)</a:t>
                </a:r>
                <a:br>
                  <a:rPr lang="en-US" altLang="zh-CN" sz="1100" dirty="0"/>
                </a:br>
                <a:r>
                  <a:rPr lang="en-US" altLang="zh-CN" sz="1100" dirty="0"/>
                  <a:t>and the “rate of change” across regions.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altLang="zh-CN" sz="1100" dirty="0"/>
                  <a:t>This method is especially useful for conservative fields, such as gravitational fields and electric fields, where a potential function exists.</a:t>
                </a:r>
              </a:p>
            </p:txBody>
          </p:sp>
        </mc:Choice>
        <mc:Fallback xmlns="">
          <p:sp>
            <p:nvSpPr>
              <p:cNvPr id="7" name="Text 4">
                <a:extLst>
                  <a:ext uri="{FF2B5EF4-FFF2-40B4-BE49-F238E27FC236}">
                    <a16:creationId xmlns:a16="http://schemas.microsoft.com/office/drawing/2014/main" id="{017C4B0C-5518-08A7-FBA2-B1D2D378B6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0626" y="1866695"/>
                <a:ext cx="3714750" cy="2512932"/>
              </a:xfrm>
              <a:prstGeom prst="rect">
                <a:avLst/>
              </a:prstGeom>
              <a:blipFill>
                <a:blip r:embed="rId4"/>
                <a:stretch>
                  <a:fillRect r="-3115" b="-267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5">
            <a:extLst>
              <a:ext uri="{FF2B5EF4-FFF2-40B4-BE49-F238E27FC236}">
                <a16:creationId xmlns:a16="http://schemas.microsoft.com/office/drawing/2014/main" id="{CC8379B9-8D08-6835-CBEA-2319D1680BAD}"/>
              </a:ext>
            </a:extLst>
          </p:cNvPr>
          <p:cNvSpPr/>
          <p:nvPr/>
        </p:nvSpPr>
        <p:spPr>
          <a:xfrm>
            <a:off x="5000625" y="2249584"/>
            <a:ext cx="65" cy="1742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endParaRPr lang="en-US" sz="885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9C2F3C0-8ACF-6739-7B15-53C8F950A3C0}"/>
              </a:ext>
            </a:extLst>
          </p:cNvPr>
          <p:cNvSpPr/>
          <p:nvPr/>
        </p:nvSpPr>
        <p:spPr>
          <a:xfrm>
            <a:off x="5000625" y="2499615"/>
            <a:ext cx="171778" cy="16293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endParaRPr lang="en-US" sz="834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AD6DA10D-0C97-F9D3-93A5-CA54800105EA}"/>
              </a:ext>
            </a:extLst>
          </p:cNvPr>
          <p:cNvSpPr/>
          <p:nvPr/>
        </p:nvSpPr>
        <p:spPr>
          <a:xfrm>
            <a:off x="5000625" y="2882503"/>
            <a:ext cx="65" cy="1742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endParaRPr lang="en-US" sz="885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16E42BF3-7393-F9B8-8C8D-2F84063BCE48}"/>
              </a:ext>
            </a:extLst>
          </p:cNvPr>
          <p:cNvSpPr/>
          <p:nvPr/>
        </p:nvSpPr>
        <p:spPr>
          <a:xfrm>
            <a:off x="5000625" y="3132534"/>
            <a:ext cx="171778" cy="16293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endParaRPr lang="en-US" sz="834" dirty="0"/>
          </a:p>
        </p:txBody>
      </p:sp>
    </p:spTree>
    <p:extLst>
      <p:ext uri="{BB962C8B-B14F-4D97-AF65-F5344CB8AC3E}">
        <p14:creationId xmlns:p14="http://schemas.microsoft.com/office/powerpoint/2010/main" val="2357006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812189" y="2067594"/>
            <a:ext cx="7519621" cy="1606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4800" b="1" dirty="0">
                <a:solidFill>
                  <a:srgbClr val="000000"/>
                </a:solidFill>
              </a:rPr>
              <a:t> Thank you for your listening!</a:t>
            </a:r>
          </a:p>
          <a:p>
            <a:pPr marL="0" indent="0" algn="ctr">
              <a:lnSpc>
                <a:spcPts val="3000"/>
              </a:lnSpc>
              <a:buNone/>
            </a:pPr>
            <a:endParaRPr lang="en-US" altLang="zh-CN" sz="4800" b="1" dirty="0">
              <a:solidFill>
                <a:srgbClr val="000000"/>
              </a:solidFill>
            </a:endParaRPr>
          </a:p>
          <a:p>
            <a:pPr marL="0" indent="0" algn="ctr">
              <a:lnSpc>
                <a:spcPts val="3000"/>
              </a:lnSpc>
              <a:buNone/>
            </a:pPr>
            <a:r>
              <a:rPr lang="en-US" altLang="zh-CN" sz="4800" b="1" dirty="0">
                <a:solidFill>
                  <a:srgbClr val="000000"/>
                </a:solidFill>
              </a:rPr>
              <a:t> </a:t>
            </a:r>
          </a:p>
          <a:p>
            <a:pPr marL="0" indent="0" algn="ctr">
              <a:lnSpc>
                <a:spcPts val="3000"/>
              </a:lnSpc>
              <a:buNone/>
            </a:pPr>
            <a:r>
              <a:rPr lang="zh-CN" altLang="en-US" sz="4800" b="1" dirty="0">
                <a:solidFill>
                  <a:srgbClr val="000000"/>
                </a:solidFill>
              </a:rPr>
              <a:t>  谢谢！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384</TotalTime>
  <Words>791</Words>
  <Application>Microsoft Office PowerPoint</Application>
  <PresentationFormat>全屏显示(16:9)</PresentationFormat>
  <Paragraphs>96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Arial</vt:lpstr>
      <vt:lpstr>Cambria Math</vt:lpstr>
      <vt:lpstr>Cascadia Code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YinXianzhuo</cp:lastModifiedBy>
  <cp:revision>15</cp:revision>
  <dcterms:created xsi:type="dcterms:W3CDTF">2025-12-02T23:32:32Z</dcterms:created>
  <dcterms:modified xsi:type="dcterms:W3CDTF">2025-12-03T09:43:49Z</dcterms:modified>
</cp:coreProperties>
</file>