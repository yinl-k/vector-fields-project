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7" r:id="rId6"/>
    <p:sldId id="274" r:id="rId7"/>
    <p:sldId id="270" r:id="rId8"/>
    <p:sldId id="269" r:id="rId9"/>
    <p:sldId id="273" r:id="rId10"/>
    <p:sldId id="272" r:id="rId11"/>
    <p:sldId id="260" r:id="rId12"/>
    <p:sldId id="271" r:id="rId13"/>
    <p:sldId id="261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131" y="2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679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9DF33-9A71-74B8-17BD-8DBFBDF20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0FE06-E1B5-D3B6-04E0-0D346B235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1CDE0-2D5C-FAED-A3CD-D5A3D1B6E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83F64-E37F-C30B-CBBA-5A8A04B41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43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67B9-E0D3-1CFF-964B-F5E78140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7AC21-EE93-57D9-EFF6-3E61FE838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F94DA-EA0A-982C-47A8-59CC84C52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D69B2-49A4-F53F-8E6B-FE3FE148D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07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5330-73E2-D098-26BB-4C2AF7F60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119EE-AF92-109A-D18B-CE535999F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560D4-C5F5-1583-10C0-6EA400556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67372-D2C2-00F7-44DE-30EDFA1F7E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03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5A3DA-EBDF-0EEB-1BA2-EEA4BF61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53D21-2229-5D82-BFF1-683156C64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A1504-6799-C303-D736-761206F15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0BCD6-4143-6F1A-20E7-18836A7847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39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2EEAF-5385-F17B-47D7-2178E50D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701AC-C505-A26C-7A53-4D67FFF3B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95ED9-09A4-6742-9F5A-B808E8E08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016F-5A0F-E175-9658-41C17BAE7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68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3F07B-7C8D-78D5-E176-9F238C1F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845F8-C565-5EBE-42CF-4F77BB6B4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1677B-5048-6C41-5F71-FE8622ACF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94686-C7A5-C05B-0C2A-D875494EA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57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AA241-BAD9-8174-DAD6-663A08C4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EC78A-B84C-6EC8-A324-569C8277C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8EDA7-1A79-992A-E7FA-B07555AF0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838DB-70E8-369D-A780-A87246D015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763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BD7F9-DCDC-3803-F2BF-E6F3412C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3A2ED-5F9C-0DEA-0206-9F8AC93E7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FC937-87FB-DE4A-DEF3-88F6D2E82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6DAF9-982C-407F-FE78-461528F91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09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2D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3D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2D%20Field.html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3D%20Field.html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421" y="2337429"/>
            <a:ext cx="7553158" cy="597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731" b="1" kern="0" spc="-1" dirty="0">
                <a:solidFill>
                  <a:srgbClr val="FFFFFF"/>
                </a:solidFill>
              </a:rPr>
              <a:t>Vector Fields in Multivariable Calculus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3036487" y="3097513"/>
            <a:ext cx="3071034" cy="2618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>
                    <a:alpha val="70000"/>
                  </a:srgbClr>
                </a:solidFill>
              </a:rPr>
              <a:t>Introduction of Vector and Vector Fields</a:t>
            </a:r>
            <a:endParaRPr lang="en-US" sz="1486" dirty="0"/>
          </a:p>
        </p:txBody>
      </p:sp>
      <p:sp>
        <p:nvSpPr>
          <p:cNvPr id="5" name="Text 2"/>
          <p:cNvSpPr/>
          <p:nvPr/>
        </p:nvSpPr>
        <p:spPr>
          <a:xfrm>
            <a:off x="4220943" y="4097722"/>
            <a:ext cx="70211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Xianzhuo Ari Yin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361207" y="4303440"/>
            <a:ext cx="42158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Math 151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339564" y="4509157"/>
            <a:ext cx="46487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12/3/2025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1143000"/>
            <a:ext cx="37033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向量场可视化示意图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983491" y="1250910"/>
            <a:ext cx="3279039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Why Study Vector Fields?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983491" y="1876685"/>
            <a:ext cx="500137" cy="1969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Core Idea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983491" y="2269592"/>
            <a:ext cx="3703309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4C4C4C"/>
                </a:solidFill>
              </a:rPr>
              <a:t>许多现实世界的量同时具有大小和方向，并且随空间位置变化。我们使用向量场来建模它们。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983491" y="2911078"/>
            <a:ext cx="3703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实际应用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983491" y="3303984"/>
            <a:ext cx="3703309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4C4C4C"/>
                </a:solidFill>
              </a:rPr>
              <a:t>气象学中的风速分布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983491" y="3595427"/>
            <a:ext cx="3703309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4C4C4C"/>
                </a:solidFill>
              </a:rPr>
              <a:t>河流或海洋中的水流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983491" y="3886870"/>
            <a:ext cx="3703309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dirty="0">
                <a:solidFill>
                  <a:srgbClr val="4C4C4C"/>
                </a:solidFill>
              </a:rPr>
              <a:t>物理学中的电场和磁场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983491" y="3303984"/>
            <a:ext cx="4297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•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983491" y="3595427"/>
            <a:ext cx="4297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•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983491" y="3886870"/>
            <a:ext cx="4297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•</a:t>
            </a:r>
            <a:endParaRPr lang="en-US" sz="784" dirty="0"/>
          </a:p>
        </p:txBody>
      </p:sp>
      <p:pic>
        <p:nvPicPr>
          <p:cNvPr id="1028" name="Picture 4" descr="物理光学笔记">
            <a:extLst>
              <a:ext uri="{FF2B5EF4-FFF2-40B4-BE49-F238E27FC236}">
                <a16:creationId xmlns:a16="http://schemas.microsoft.com/office/drawing/2014/main" id="{B63B0A76-F543-94A2-0DD4-7D63210D9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79" y="547445"/>
            <a:ext cx="3931149" cy="40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886578"/>
            <a:ext cx="1562928" cy="391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zh-CN" altLang="en-US" sz="2436" b="1" dirty="0">
                <a:solidFill>
                  <a:srgbClr val="000000"/>
                </a:solidFill>
              </a:rPr>
              <a:t>什么是向量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57200" y="2098141"/>
            <a:ext cx="3703309" cy="62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3"/>
          <p:cNvSpPr/>
          <p:nvPr/>
        </p:nvSpPr>
        <p:spPr>
          <a:xfrm>
            <a:off x="457200" y="2098141"/>
            <a:ext cx="21431" cy="6272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57200" y="2098142"/>
            <a:ext cx="3703309" cy="59554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885" dirty="0">
                <a:solidFill>
                  <a:srgbClr val="333333"/>
                </a:solidFill>
              </a:rPr>
              <a:t>向量是同时具有大小和方向的量，它在向量空间中由一组有序的数字来表示。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57200" y="2868215"/>
            <a:ext cx="1013098" cy="197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zh-CN" altLang="en-US" sz="987" b="1" dirty="0">
                <a:solidFill>
                  <a:srgbClr val="333333"/>
                </a:solidFill>
              </a:rPr>
              <a:t>二维向量表示方法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67915" y="3096816"/>
            <a:ext cx="3703309" cy="3771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457200" y="3096816"/>
            <a:ext cx="21431" cy="37716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57200" y="3096816"/>
            <a:ext cx="3703309" cy="391967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900" dirty="0"/>
              <a:t>通常写成</a:t>
            </a:r>
            <a:r>
              <a:rPr lang="en-US" altLang="zh-CN" sz="900" dirty="0"/>
              <a:t>(</a:t>
            </a:r>
            <a:r>
              <a:rPr lang="zh-CN" altLang="en-US" sz="900" dirty="0"/>
              <a:t>𝑥</a:t>
            </a:r>
            <a:r>
              <a:rPr lang="en-US" altLang="zh-CN" sz="900" dirty="0"/>
              <a:t>,  </a:t>
            </a:r>
            <a:r>
              <a:rPr lang="zh-CN" altLang="en-US" sz="900" dirty="0"/>
              <a:t>𝑦</a:t>
            </a:r>
            <a:r>
              <a:rPr lang="en-US" altLang="zh-CN" sz="900" dirty="0"/>
              <a:t>) </a:t>
            </a:r>
            <a:r>
              <a:rPr lang="zh-CN" altLang="en-US" sz="900" dirty="0"/>
              <a:t>，它表示向量在 </a:t>
            </a:r>
            <a:r>
              <a:rPr lang="en-US" altLang="zh-CN" sz="900" dirty="0"/>
              <a:t>x</a:t>
            </a:r>
            <a:r>
              <a:rPr lang="zh-CN" altLang="en-US" sz="900" dirty="0"/>
              <a:t>、</a:t>
            </a:r>
            <a:r>
              <a:rPr lang="en-US" altLang="zh-CN" sz="900" dirty="0"/>
              <a:t>y</a:t>
            </a:r>
            <a:r>
              <a:rPr lang="zh-CN" altLang="en-US" sz="900" dirty="0"/>
              <a:t>两个方向上的分量。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983491" y="1142972"/>
            <a:ext cx="37033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向量场的几何表示</a:t>
            </a:r>
            <a:endParaRPr lang="en-US" sz="727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9F8D7A92-9E55-311A-829C-7E399F4F0F09}"/>
              </a:ext>
            </a:extLst>
          </p:cNvPr>
          <p:cNvSpPr/>
          <p:nvPr/>
        </p:nvSpPr>
        <p:spPr>
          <a:xfrm>
            <a:off x="457199" y="1832371"/>
            <a:ext cx="506549" cy="197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zh-CN" altLang="en-US" sz="987" b="1" dirty="0">
                <a:solidFill>
                  <a:srgbClr val="333333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二维向量</a:t>
            </a:r>
            <a:endParaRPr lang="en-US" sz="987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AB88557-0500-6C7B-6EF8-31BC72D9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836" y="1051218"/>
            <a:ext cx="3788774" cy="363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887E5-DA07-B61D-88BD-80BE16A03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3D7E424-993E-550E-85CF-118F612E1706}"/>
              </a:ext>
            </a:extLst>
          </p:cNvPr>
          <p:cNvSpPr/>
          <p:nvPr/>
        </p:nvSpPr>
        <p:spPr>
          <a:xfrm>
            <a:off x="457200" y="886578"/>
            <a:ext cx="2500685" cy="391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36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二维向量运算规则</a:t>
            </a:r>
          </a:p>
        </p:txBody>
      </p:sp>
      <p:sp>
        <p:nvSpPr>
          <p:cNvPr id="5" name="Shape 2">
            <a:hlinkClick r:id="rId3" action="ppaction://hlinkfile"/>
            <a:extLst>
              <a:ext uri="{FF2B5EF4-FFF2-40B4-BE49-F238E27FC236}">
                <a16:creationId xmlns:a16="http://schemas.microsoft.com/office/drawing/2014/main" id="{373AF0FF-37C2-4ACA-9BCA-038016979297}"/>
              </a:ext>
            </a:extLst>
          </p:cNvPr>
          <p:cNvSpPr/>
          <p:nvPr/>
        </p:nvSpPr>
        <p:spPr>
          <a:xfrm>
            <a:off x="457200" y="2098140"/>
            <a:ext cx="3703309" cy="190233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D286B42-D474-8B11-2DAD-2C34FBDAC6BD}"/>
              </a:ext>
            </a:extLst>
          </p:cNvPr>
          <p:cNvSpPr/>
          <p:nvPr/>
        </p:nvSpPr>
        <p:spPr>
          <a:xfrm>
            <a:off x="457200" y="2098140"/>
            <a:ext cx="21431" cy="1902331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0D2A54A1-497D-B0AF-76EC-271F26C32CE1}"/>
                  </a:ext>
                </a:extLst>
              </p:cNvPr>
              <p:cNvSpPr/>
              <p:nvPr/>
            </p:nvSpPr>
            <p:spPr>
              <a:xfrm>
                <a:off x="457200" y="2098142"/>
                <a:ext cx="3703309" cy="1844929"/>
              </a:xfrm>
              <a:prstGeom prst="rect">
                <a:avLst/>
              </a:prstGeom>
              <a:noFill/>
              <a:ln/>
            </p:spPr>
            <p:txBody>
              <a:bodyPr wrap="square" lIns="127508" tIns="102108" rIns="127508" bIns="102108" rtlCol="0" anchor="t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1050" dirty="0"/>
                  <a:t>加法：分量分别相加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050" dirty="0"/>
                  <a:t>减法：分量分别相减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050" dirty="0"/>
                  <a:t>数乘：每个分量同时乘以标量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050" dirty="0"/>
                  <a:t>模长：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altLang="zh-CN" sz="105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ar-AE" altLang="zh-CN" sz="105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zh-CN" sz="105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zh-CN" sz="105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altLang="zh-CN" sz="105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sz="10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ar-AE" altLang="zh-CN" sz="105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ar-AE" altLang="zh-CN" sz="1050" dirty="0"/>
              </a:p>
              <a:p>
                <a:pPr>
                  <a:lnSpc>
                    <a:spcPct val="200000"/>
                  </a:lnSpc>
                </a:pPr>
                <a:r>
                  <a:rPr lang="zh-CN" altLang="en-US" sz="1050" dirty="0"/>
                  <a:t>内积：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CN" sz="10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altLang="zh-CN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CN" sz="10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zh-CN" sz="105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CN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05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altLang="zh-CN" sz="10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altLang="zh-CN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05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altLang="zh-CN" sz="10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ar-AE" sz="1050" dirty="0"/>
                  <a:t>（</a:t>
                </a:r>
                <a:r>
                  <a:rPr lang="zh-CN" altLang="en-US" sz="1050" dirty="0"/>
                  <a:t>用于判断方向关系）</a:t>
                </a:r>
              </a:p>
            </p:txBody>
          </p:sp>
        </mc:Choice>
        <mc:Fallback xmlns="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0D2A54A1-497D-B0AF-76EC-271F26C32C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098142"/>
                <a:ext cx="3703309" cy="18449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2">
            <a:extLst>
              <a:ext uri="{FF2B5EF4-FFF2-40B4-BE49-F238E27FC236}">
                <a16:creationId xmlns:a16="http://schemas.microsoft.com/office/drawing/2014/main" id="{A2665819-5BD0-D871-E7CF-A72F398570D5}"/>
              </a:ext>
            </a:extLst>
          </p:cNvPr>
          <p:cNvSpPr/>
          <p:nvPr/>
        </p:nvSpPr>
        <p:spPr>
          <a:xfrm>
            <a:off x="4983491" y="1142972"/>
            <a:ext cx="37033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向量场的几何表示</a:t>
            </a:r>
            <a:endParaRPr lang="en-US" sz="727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8078EDF-1E8C-DF2C-1870-93E744C17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836" y="1051218"/>
            <a:ext cx="3788774" cy="363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51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E1C0-5335-07B2-26CC-AF1CD35F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98672CF-B6A3-DD7C-9F1E-3F33A3EF6653}"/>
              </a:ext>
            </a:extLst>
          </p:cNvPr>
          <p:cNvSpPr/>
          <p:nvPr/>
        </p:nvSpPr>
        <p:spPr>
          <a:xfrm>
            <a:off x="457200" y="886578"/>
            <a:ext cx="2188100" cy="391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zh-CN" altLang="en-US" sz="2436" b="1" dirty="0">
                <a:solidFill>
                  <a:srgbClr val="000000"/>
                </a:solidFill>
              </a:rPr>
              <a:t>什么是三维向量</a:t>
            </a:r>
            <a:endParaRPr lang="en-US" sz="2436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359D1BD-94AF-6B2E-E446-02FBDE8B83EF}"/>
              </a:ext>
            </a:extLst>
          </p:cNvPr>
          <p:cNvSpPr/>
          <p:nvPr/>
        </p:nvSpPr>
        <p:spPr>
          <a:xfrm>
            <a:off x="457200" y="2098141"/>
            <a:ext cx="3703309" cy="62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719FFA3-E385-BA7A-EB99-486AB546AE2A}"/>
              </a:ext>
            </a:extLst>
          </p:cNvPr>
          <p:cNvSpPr/>
          <p:nvPr/>
        </p:nvSpPr>
        <p:spPr>
          <a:xfrm>
            <a:off x="457200" y="2098141"/>
            <a:ext cx="21431" cy="6272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200A180-08E1-D160-841E-979FCE761F39}"/>
              </a:ext>
            </a:extLst>
          </p:cNvPr>
          <p:cNvSpPr/>
          <p:nvPr/>
        </p:nvSpPr>
        <p:spPr>
          <a:xfrm>
            <a:off x="457200" y="2098142"/>
            <a:ext cx="3703309" cy="595997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900" dirty="0"/>
              <a:t>向量是同时具有大小和方向的量。在三维空间中，一个向量由一组有序的三个数字来表示</a:t>
            </a:r>
            <a:endParaRPr lang="en-US" sz="885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8DB328E-C26E-81D9-218F-B1D55440E1F3}"/>
              </a:ext>
            </a:extLst>
          </p:cNvPr>
          <p:cNvSpPr/>
          <p:nvPr/>
        </p:nvSpPr>
        <p:spPr>
          <a:xfrm>
            <a:off x="457200" y="2868215"/>
            <a:ext cx="1013098" cy="197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zh-CN" altLang="en-US" sz="987" b="1" dirty="0">
                <a:solidFill>
                  <a:srgbClr val="333333"/>
                </a:solidFill>
              </a:rPr>
              <a:t>三维向量表示方法</a:t>
            </a:r>
            <a:endParaRPr lang="en-US" sz="987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36A2EBD-A6B5-6033-9EE2-42EAF761867A}"/>
              </a:ext>
            </a:extLst>
          </p:cNvPr>
          <p:cNvSpPr/>
          <p:nvPr/>
        </p:nvSpPr>
        <p:spPr>
          <a:xfrm>
            <a:off x="467915" y="3096816"/>
            <a:ext cx="3703309" cy="3771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7F3F3C5-8EDF-D9EC-4ED5-14ACB295889C}"/>
              </a:ext>
            </a:extLst>
          </p:cNvPr>
          <p:cNvSpPr/>
          <p:nvPr/>
        </p:nvSpPr>
        <p:spPr>
          <a:xfrm>
            <a:off x="457200" y="3096816"/>
            <a:ext cx="21431" cy="37716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D0FA379-B3D4-FD2C-4BB0-95BFCB05A865}"/>
              </a:ext>
            </a:extLst>
          </p:cNvPr>
          <p:cNvSpPr/>
          <p:nvPr/>
        </p:nvSpPr>
        <p:spPr>
          <a:xfrm>
            <a:off x="457200" y="3096816"/>
            <a:ext cx="3703309" cy="391967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900" dirty="0"/>
              <a:t>通常写成</a:t>
            </a:r>
            <a:r>
              <a:rPr lang="en-US" altLang="zh-CN" sz="900" dirty="0"/>
              <a:t>(</a:t>
            </a:r>
            <a:r>
              <a:rPr lang="zh-CN" altLang="en-US" sz="900" dirty="0"/>
              <a:t>𝑥</a:t>
            </a:r>
            <a:r>
              <a:rPr lang="en-US" altLang="zh-CN" sz="900" dirty="0"/>
              <a:t>,  </a:t>
            </a:r>
            <a:r>
              <a:rPr lang="zh-CN" altLang="en-US" sz="900" dirty="0"/>
              <a:t>𝑦</a:t>
            </a:r>
            <a:r>
              <a:rPr lang="en-US" altLang="zh-CN" sz="900" dirty="0"/>
              <a:t>,  </a:t>
            </a:r>
            <a:r>
              <a:rPr lang="zh-CN" altLang="en-US" sz="900" dirty="0"/>
              <a:t>𝑧</a:t>
            </a:r>
            <a:r>
              <a:rPr lang="en-US" altLang="zh-CN" sz="900" dirty="0"/>
              <a:t>)</a:t>
            </a:r>
            <a:r>
              <a:rPr lang="zh-CN" altLang="en-US" sz="900" dirty="0"/>
              <a:t>它表示向量在 </a:t>
            </a:r>
            <a:r>
              <a:rPr lang="en-US" altLang="zh-CN" sz="900" dirty="0"/>
              <a:t>x</a:t>
            </a:r>
            <a:r>
              <a:rPr lang="zh-CN" altLang="en-US" sz="900" dirty="0"/>
              <a:t>、</a:t>
            </a:r>
            <a:r>
              <a:rPr lang="en-US" altLang="zh-CN" sz="900" dirty="0"/>
              <a:t>y</a:t>
            </a:r>
            <a:r>
              <a:rPr lang="zh-CN" altLang="en-US" sz="900" dirty="0"/>
              <a:t>、</a:t>
            </a:r>
            <a:r>
              <a:rPr lang="en-US" altLang="zh-CN" sz="900" dirty="0"/>
              <a:t>z </a:t>
            </a:r>
            <a:r>
              <a:rPr lang="zh-CN" altLang="en-US" sz="900" dirty="0"/>
              <a:t>三个方向上的分量。</a:t>
            </a:r>
            <a:endParaRPr lang="en-US" sz="885" dirty="0"/>
          </a:p>
        </p:txBody>
      </p:sp>
      <p:sp>
        <p:nvSpPr>
          <p:cNvPr id="12" name="Text 9">
            <a:hlinkClick r:id="rId3" action="ppaction://hlinkfile"/>
            <a:extLst>
              <a:ext uri="{FF2B5EF4-FFF2-40B4-BE49-F238E27FC236}">
                <a16:creationId xmlns:a16="http://schemas.microsoft.com/office/drawing/2014/main" id="{1DDF8F24-9F44-CA51-41BA-DD504E91C931}"/>
              </a:ext>
            </a:extLst>
          </p:cNvPr>
          <p:cNvSpPr/>
          <p:nvPr/>
        </p:nvSpPr>
        <p:spPr>
          <a:xfrm>
            <a:off x="457200" y="3724015"/>
            <a:ext cx="2152833" cy="197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zh-CN" altLang="en-US" sz="987" b="1" dirty="0">
                <a:solidFill>
                  <a:srgbClr val="333333"/>
                </a:solidFill>
              </a:rPr>
              <a:t>同样的运算规则同样适用在三维向量里</a:t>
            </a:r>
            <a:endParaRPr lang="en-US" sz="987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FD3ADB1-FAFA-5D3B-8589-49108B541E5A}"/>
              </a:ext>
            </a:extLst>
          </p:cNvPr>
          <p:cNvSpPr/>
          <p:nvPr/>
        </p:nvSpPr>
        <p:spPr>
          <a:xfrm>
            <a:off x="4983491" y="1142972"/>
            <a:ext cx="37033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向量场的几何表示</a:t>
            </a:r>
            <a:endParaRPr lang="en-US" sz="727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CDE64979-A25A-29CC-1847-DBE905304793}"/>
              </a:ext>
            </a:extLst>
          </p:cNvPr>
          <p:cNvSpPr/>
          <p:nvPr/>
        </p:nvSpPr>
        <p:spPr>
          <a:xfrm>
            <a:off x="457199" y="1832371"/>
            <a:ext cx="506549" cy="196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zh-CN" altLang="en-US" sz="987" b="1" dirty="0">
                <a:solidFill>
                  <a:srgbClr val="333333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三维向量</a:t>
            </a:r>
            <a:endParaRPr lang="en-US" sz="987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AutoShape 2" descr="三维向量的可视化">
            <a:extLst>
              <a:ext uri="{FF2B5EF4-FFF2-40B4-BE49-F238E27FC236}">
                <a16:creationId xmlns:a16="http://schemas.microsoft.com/office/drawing/2014/main" id="{70370789-E636-8116-9AFB-B5C461CB00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9DDD205-679A-9327-26C6-5D7B66948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077" y="395626"/>
            <a:ext cx="4322521" cy="435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66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50DC-F66E-F343-FF3A-10CDD553D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12391DF-2DE8-4DEA-623E-AD18C66622C5}"/>
              </a:ext>
            </a:extLst>
          </p:cNvPr>
          <p:cNvSpPr/>
          <p:nvPr/>
        </p:nvSpPr>
        <p:spPr>
          <a:xfrm>
            <a:off x="457200" y="886578"/>
            <a:ext cx="3438442" cy="38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zh-CN" altLang="en-US" sz="2436" b="1" dirty="0">
                <a:solidFill>
                  <a:srgbClr val="000000"/>
                </a:solidFill>
                <a:latin typeface="+mj-ea"/>
                <a:ea typeface="+mj-ea"/>
              </a:rPr>
              <a:t>二维</a:t>
            </a:r>
            <a:r>
              <a:rPr lang="en-US" sz="2436" b="1" dirty="0" err="1">
                <a:solidFill>
                  <a:srgbClr val="000000"/>
                </a:solidFill>
                <a:latin typeface="+mj-ea"/>
                <a:ea typeface="+mj-ea"/>
              </a:rPr>
              <a:t>向量场的定义与表示</a:t>
            </a:r>
            <a:endParaRPr lang="en-US" sz="2436" dirty="0">
              <a:latin typeface="+mj-ea"/>
              <a:ea typeface="+mj-ea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3918929-059F-F094-0735-69D8C0B60643}"/>
              </a:ext>
            </a:extLst>
          </p:cNvPr>
          <p:cNvSpPr/>
          <p:nvPr/>
        </p:nvSpPr>
        <p:spPr>
          <a:xfrm>
            <a:off x="457200" y="2431554"/>
            <a:ext cx="3703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二维向量场</a:t>
            </a:r>
            <a:endParaRPr lang="en-US" sz="987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28D87B5-D7A2-4C02-8F6C-EF82CDE0D086}"/>
              </a:ext>
            </a:extLst>
          </p:cNvPr>
          <p:cNvSpPr/>
          <p:nvPr/>
        </p:nvSpPr>
        <p:spPr>
          <a:xfrm>
            <a:off x="457200" y="2803029"/>
            <a:ext cx="3703309" cy="3771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1A110BA-8E8B-9FA6-2EC9-D5B7D85631E8}"/>
              </a:ext>
            </a:extLst>
          </p:cNvPr>
          <p:cNvSpPr/>
          <p:nvPr/>
        </p:nvSpPr>
        <p:spPr>
          <a:xfrm>
            <a:off x="457200" y="2803029"/>
            <a:ext cx="21431" cy="37716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CD0692B-8DB4-E092-69EE-818EE70F4C81}"/>
              </a:ext>
            </a:extLst>
          </p:cNvPr>
          <p:cNvSpPr/>
          <p:nvPr/>
        </p:nvSpPr>
        <p:spPr>
          <a:xfrm>
            <a:off x="457200" y="2803029"/>
            <a:ext cx="3703309" cy="80073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F</a:t>
            </a:r>
            <a:r>
              <a:rPr lang="en-US" sz="942" dirty="0">
                <a:solidFill>
                  <a:srgbClr val="333333"/>
                </a:solidFill>
              </a:rPr>
              <a:t>(x, y) = (P(x, y), Q(x, y))           F(x, y) </a:t>
            </a:r>
            <a:r>
              <a:rPr lang="zh-CN" altLang="en-US" sz="942" dirty="0">
                <a:solidFill>
                  <a:srgbClr val="333333"/>
                </a:solidFill>
              </a:rPr>
              <a:t>的两个分量是 </a:t>
            </a:r>
            <a:r>
              <a:rPr lang="en-US" sz="942" dirty="0">
                <a:solidFill>
                  <a:srgbClr val="333333"/>
                </a:solidFill>
              </a:rPr>
              <a:t>P(x, y) </a:t>
            </a:r>
            <a:r>
              <a:rPr lang="zh-CN" altLang="en-US" sz="942" dirty="0">
                <a:solidFill>
                  <a:srgbClr val="333333"/>
                </a:solidFill>
              </a:rPr>
              <a:t>和 </a:t>
            </a:r>
            <a:r>
              <a:rPr lang="en-US" sz="942" dirty="0">
                <a:solidFill>
                  <a:srgbClr val="333333"/>
                </a:solidFill>
              </a:rPr>
              <a:t>Q(x, y)。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zh-CN" altLang="en-US" sz="885" dirty="0"/>
              <a:t>表示：平面上每一点 </a:t>
            </a:r>
            <a:r>
              <a:rPr lang="en-US" altLang="zh-CN" sz="885" dirty="0"/>
              <a:t>(</a:t>
            </a:r>
            <a:r>
              <a:rPr lang="zh-CN" altLang="en-US" sz="885" dirty="0"/>
              <a:t>𝑥</a:t>
            </a:r>
            <a:r>
              <a:rPr lang="en-US" altLang="zh-CN" sz="885" dirty="0"/>
              <a:t>,</a:t>
            </a:r>
            <a:r>
              <a:rPr lang="zh-CN" altLang="en-US" sz="885" dirty="0"/>
              <a:t>𝑦</a:t>
            </a:r>
            <a:r>
              <a:rPr lang="en-US" altLang="zh-CN" sz="885" dirty="0"/>
              <a:t>) </a:t>
            </a:r>
            <a:r>
              <a:rPr lang="zh-CN" altLang="en-US" sz="885" dirty="0"/>
              <a:t>都对应一个二维向量，其分量由函数 𝑃</a:t>
            </a:r>
            <a:r>
              <a:rPr lang="en-US" altLang="zh-CN" sz="885" dirty="0"/>
              <a:t> </a:t>
            </a:r>
            <a:r>
              <a:rPr lang="zh-CN" altLang="en-US" sz="885" dirty="0"/>
              <a:t>和 𝑄给出。</a:t>
            </a:r>
            <a:endParaRPr lang="en-US" sz="885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0C803E5-E86D-FB9F-E63F-91491098A1A6}"/>
              </a:ext>
            </a:extLst>
          </p:cNvPr>
          <p:cNvSpPr/>
          <p:nvPr/>
        </p:nvSpPr>
        <p:spPr>
          <a:xfrm>
            <a:off x="4983491" y="1142972"/>
            <a:ext cx="3703309" cy="2857500"/>
          </a:xfrm>
          <a:prstGeom prst="rect">
            <a:avLst/>
          </a:prstGeom>
          <a:solidFill>
            <a:srgbClr val="E0E0E0"/>
          </a:solidFill>
          <a:ln w="18288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1717FDB-54AF-1A25-9D96-035AFC2B0122}"/>
              </a:ext>
            </a:extLst>
          </p:cNvPr>
          <p:cNvSpPr/>
          <p:nvPr/>
        </p:nvSpPr>
        <p:spPr>
          <a:xfrm>
            <a:off x="4983491" y="1142972"/>
            <a:ext cx="37033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向量场的几何表示</a:t>
            </a:r>
            <a:endParaRPr lang="en-US" sz="727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4B2C5471-4EB2-6186-B0BF-17DA7E6F4117}"/>
              </a:ext>
            </a:extLst>
          </p:cNvPr>
          <p:cNvSpPr/>
          <p:nvPr/>
        </p:nvSpPr>
        <p:spPr>
          <a:xfrm>
            <a:off x="457200" y="1548072"/>
            <a:ext cx="307777" cy="204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zh-CN" altLang="en-US" sz="1200" b="1" dirty="0">
                <a:solidFill>
                  <a:srgbClr val="333333"/>
                </a:solidFill>
              </a:rPr>
              <a:t>定义</a:t>
            </a:r>
            <a:endParaRPr lang="en-US" sz="12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E84ABBE7-A729-F1F5-55C0-DA28467E7491}"/>
              </a:ext>
            </a:extLst>
          </p:cNvPr>
          <p:cNvSpPr/>
          <p:nvPr/>
        </p:nvSpPr>
        <p:spPr>
          <a:xfrm>
            <a:off x="457200" y="1955265"/>
            <a:ext cx="3703309" cy="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zh-CN" altLang="en-US" sz="1100" dirty="0">
                <a:solidFill>
                  <a:srgbClr val="4C4C4C"/>
                </a:solidFill>
              </a:rPr>
              <a:t>向量场是一个在空间中每一点都对应一个向量的函数。</a:t>
            </a:r>
            <a:endParaRPr lang="en-US" sz="1100" dirty="0"/>
          </a:p>
        </p:txBody>
      </p:sp>
      <p:pic>
        <p:nvPicPr>
          <p:cNvPr id="4098" name="Picture 2" descr="向量场 $f(x, y) = (x, y)$">
            <a:extLst>
              <a:ext uri="{FF2B5EF4-FFF2-40B4-BE49-F238E27FC236}">
                <a16:creationId xmlns:a16="http://schemas.microsoft.com/office/drawing/2014/main" id="{97CD4E98-B4C4-D534-ECFC-3FA90D2466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7" r="12266"/>
          <a:stretch>
            <a:fillRect/>
          </a:stretch>
        </p:blipFill>
        <p:spPr bwMode="auto">
          <a:xfrm>
            <a:off x="4470888" y="969828"/>
            <a:ext cx="4409892" cy="3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18753E7-E5B8-7AFD-43D8-B63488FB8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88" y="3916838"/>
            <a:ext cx="884177" cy="401114"/>
          </a:xfrm>
          <a:prstGeom prst="rect">
            <a:avLst/>
          </a:prstGeom>
        </p:spPr>
      </p:pic>
      <p:sp>
        <p:nvSpPr>
          <p:cNvPr id="27" name="Text 1">
            <a:extLst>
              <a:ext uri="{FF2B5EF4-FFF2-40B4-BE49-F238E27FC236}">
                <a16:creationId xmlns:a16="http://schemas.microsoft.com/office/drawing/2014/main" id="{F76897FB-57BD-69D5-81AB-61B3BFA8DF7A}"/>
              </a:ext>
            </a:extLst>
          </p:cNvPr>
          <p:cNvSpPr/>
          <p:nvPr/>
        </p:nvSpPr>
        <p:spPr>
          <a:xfrm>
            <a:off x="452805" y="3618256"/>
            <a:ext cx="253274" cy="1962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zh-CN" altLang="en-US" sz="987" b="1" dirty="0">
                <a:solidFill>
                  <a:srgbClr val="333333"/>
                </a:solidFill>
              </a:rPr>
              <a:t>例子</a:t>
            </a:r>
            <a:endParaRPr lang="en-US" sz="987" dirty="0"/>
          </a:p>
        </p:txBody>
      </p:sp>
    </p:spTree>
    <p:extLst>
      <p:ext uri="{BB962C8B-B14F-4D97-AF65-F5344CB8AC3E}">
        <p14:creationId xmlns:p14="http://schemas.microsoft.com/office/powerpoint/2010/main" val="393607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AB2C3-C147-ADFD-185A-C559B501C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preencoded.png">
            <a:hlinkClick r:id="rId3" action="ppaction://hlinkfile"/>
            <a:extLst>
              <a:ext uri="{FF2B5EF4-FFF2-40B4-BE49-F238E27FC236}">
                <a16:creationId xmlns:a16="http://schemas.microsoft.com/office/drawing/2014/main" id="{C7A09096-12C2-600C-C135-223E5136C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08080"/>
            <a:ext cx="9144000" cy="203541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24E4A0D-B4E6-DBBD-C5E5-1F9C1C824229}"/>
              </a:ext>
            </a:extLst>
          </p:cNvPr>
          <p:cNvSpPr/>
          <p:nvPr/>
        </p:nvSpPr>
        <p:spPr>
          <a:xfrm>
            <a:off x="457200" y="886578"/>
            <a:ext cx="3125856" cy="38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zh-CN" altLang="en-US" sz="2436" b="1" dirty="0">
                <a:solidFill>
                  <a:srgbClr val="000000"/>
                </a:solidFill>
                <a:latin typeface="+mj-ea"/>
                <a:ea typeface="+mj-ea"/>
              </a:rPr>
              <a:t>几种二维向量场的表示</a:t>
            </a:r>
            <a:endParaRPr lang="en-US" sz="2436" dirty="0">
              <a:latin typeface="+mj-ea"/>
              <a:ea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759908-119B-EB73-B139-D463D202CB63}"/>
              </a:ext>
            </a:extLst>
          </p:cNvPr>
          <p:cNvSpPr txBox="1"/>
          <p:nvPr/>
        </p:nvSpPr>
        <p:spPr>
          <a:xfrm>
            <a:off x="457200" y="2310140"/>
            <a:ext cx="2387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常向量场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Constant Vector Field</a:t>
            </a:r>
            <a:r>
              <a:rPr lang="zh-CN" altLang="en-US" sz="1400" b="1" dirty="0"/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20BAEA-27AE-72FC-FC49-EB2D0B86DD48}"/>
              </a:ext>
            </a:extLst>
          </p:cNvPr>
          <p:cNvSpPr txBox="1"/>
          <p:nvPr/>
        </p:nvSpPr>
        <p:spPr>
          <a:xfrm>
            <a:off x="3103876" y="2310140"/>
            <a:ext cx="20703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径向向量场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Radial Vector Field</a:t>
            </a:r>
            <a:r>
              <a:rPr lang="zh-CN" altLang="en-US" sz="1400" b="1" dirty="0"/>
              <a:t>）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142C976-FC11-D0FE-70FF-947B7C04A95B}"/>
              </a:ext>
            </a:extLst>
          </p:cNvPr>
          <p:cNvSpPr txBox="1"/>
          <p:nvPr/>
        </p:nvSpPr>
        <p:spPr>
          <a:xfrm>
            <a:off x="5376496" y="2312290"/>
            <a:ext cx="3437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旋转向量场 </a:t>
            </a:r>
            <a:r>
              <a:rPr lang="en-US" altLang="zh-CN" sz="1400" b="1" dirty="0"/>
              <a:t>/ </a:t>
            </a:r>
            <a:r>
              <a:rPr lang="zh-CN" altLang="en-US" sz="1400" b="1" dirty="0"/>
              <a:t>切向向量场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Rotational / Tangential Vector Field</a:t>
            </a:r>
            <a:r>
              <a:rPr lang="zh-CN" altLang="en-US" sz="1400" b="1" dirty="0"/>
              <a:t>）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EE5E402-7A0F-4209-8505-0DE9A897A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446" y="3203491"/>
            <a:ext cx="1732620" cy="33689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98330E7-B478-4AF3-278B-68AADA310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825" y="3238659"/>
            <a:ext cx="1809626" cy="33689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6FF3E2D3-08B6-1A91-3CB6-180AF8F923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8012" y="3246904"/>
            <a:ext cx="1934759" cy="32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8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0951B-CCE3-2994-F3AB-64AB1DFF7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46D77F9-69F0-FCF8-3766-9769C3C211F9}"/>
              </a:ext>
            </a:extLst>
          </p:cNvPr>
          <p:cNvSpPr/>
          <p:nvPr/>
        </p:nvSpPr>
        <p:spPr>
          <a:xfrm>
            <a:off x="457200" y="886578"/>
            <a:ext cx="3438442" cy="389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zh-CN" altLang="en-US" sz="2436" b="1" dirty="0">
                <a:solidFill>
                  <a:srgbClr val="000000"/>
                </a:solidFill>
                <a:ea typeface="+mj-ea"/>
              </a:rPr>
              <a:t>三维</a:t>
            </a:r>
            <a:r>
              <a:rPr lang="en-US" sz="2436" b="1" dirty="0" err="1">
                <a:solidFill>
                  <a:srgbClr val="000000"/>
                </a:solidFill>
                <a:ea typeface="+mj-ea"/>
              </a:rPr>
              <a:t>向量场的定义与表示</a:t>
            </a:r>
            <a:endParaRPr lang="en-US" sz="2436" dirty="0">
              <a:ea typeface="+mj-ea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2E93710-D0CC-CE1E-471C-5DD503EC48E2}"/>
              </a:ext>
            </a:extLst>
          </p:cNvPr>
          <p:cNvSpPr/>
          <p:nvPr/>
        </p:nvSpPr>
        <p:spPr>
          <a:xfrm>
            <a:off x="457200" y="2349441"/>
            <a:ext cx="3703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三维向量场</a:t>
            </a:r>
            <a:endParaRPr lang="en-US" sz="987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6DC8799-DA38-2EE0-561F-063293C49811}"/>
              </a:ext>
            </a:extLst>
          </p:cNvPr>
          <p:cNvSpPr/>
          <p:nvPr/>
        </p:nvSpPr>
        <p:spPr>
          <a:xfrm>
            <a:off x="457200" y="2720916"/>
            <a:ext cx="3703309" cy="3771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B0662CC-3A97-CE99-A939-EDCE80B71D63}"/>
              </a:ext>
            </a:extLst>
          </p:cNvPr>
          <p:cNvSpPr/>
          <p:nvPr/>
        </p:nvSpPr>
        <p:spPr>
          <a:xfrm>
            <a:off x="457200" y="2720916"/>
            <a:ext cx="21431" cy="37716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4CA46BC-9499-A0CA-1C8D-577AC59ADB44}"/>
              </a:ext>
            </a:extLst>
          </p:cNvPr>
          <p:cNvSpPr/>
          <p:nvPr/>
        </p:nvSpPr>
        <p:spPr>
          <a:xfrm>
            <a:off x="457200" y="2720916"/>
            <a:ext cx="3703309" cy="79983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F</a:t>
            </a:r>
            <a:r>
              <a:rPr lang="en-US" sz="942" dirty="0">
                <a:solidFill>
                  <a:srgbClr val="333333"/>
                </a:solidFill>
              </a:rPr>
              <a:t>(x, y, z) = (P(x, y, z), Q(x, y, z), R(x, y, z))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zh-CN" altLang="en-US" sz="885" dirty="0"/>
              <a:t>表示：空间中每一点 </a:t>
            </a:r>
            <a:r>
              <a:rPr lang="en-US" altLang="zh-CN" sz="885" dirty="0"/>
              <a:t>(</a:t>
            </a:r>
            <a:r>
              <a:rPr lang="zh-CN" altLang="en-US" sz="885" dirty="0"/>
              <a:t>𝑥</a:t>
            </a:r>
            <a:r>
              <a:rPr lang="en-US" altLang="zh-CN" sz="885" dirty="0"/>
              <a:t>,</a:t>
            </a:r>
            <a:r>
              <a:rPr lang="zh-CN" altLang="en-US" sz="885" dirty="0"/>
              <a:t>𝑦</a:t>
            </a:r>
            <a:r>
              <a:rPr lang="en-US" altLang="zh-CN" sz="885" dirty="0"/>
              <a:t>,</a:t>
            </a:r>
            <a:r>
              <a:rPr lang="zh-CN" altLang="en-US" sz="885" dirty="0"/>
              <a:t>𝑧</a:t>
            </a:r>
            <a:r>
              <a:rPr lang="en-US" altLang="zh-CN" sz="885" dirty="0"/>
              <a:t>) </a:t>
            </a:r>
            <a:r>
              <a:rPr lang="zh-CN" altLang="en-US" sz="885" dirty="0"/>
              <a:t>都对应一个三维向量，其分量由函数 𝑃、𝑄、𝑅给出。</a:t>
            </a:r>
            <a:endParaRPr lang="en-US" sz="885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EAEA60B-6ED8-AA8B-BA76-DF5CA782AC2F}"/>
              </a:ext>
            </a:extLst>
          </p:cNvPr>
          <p:cNvSpPr/>
          <p:nvPr/>
        </p:nvSpPr>
        <p:spPr>
          <a:xfrm>
            <a:off x="4983491" y="1142972"/>
            <a:ext cx="37033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向量场的几何表示</a:t>
            </a:r>
            <a:endParaRPr lang="en-US" sz="727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7DA3B13D-55EE-668C-4AF2-D0509598086E}"/>
              </a:ext>
            </a:extLst>
          </p:cNvPr>
          <p:cNvSpPr/>
          <p:nvPr/>
        </p:nvSpPr>
        <p:spPr>
          <a:xfrm>
            <a:off x="457200" y="1548072"/>
            <a:ext cx="307777" cy="204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zh-CN" altLang="en-US" sz="1200" b="1" dirty="0">
                <a:solidFill>
                  <a:srgbClr val="333333"/>
                </a:solidFill>
              </a:rPr>
              <a:t>定义</a:t>
            </a:r>
            <a:endParaRPr lang="en-US" sz="12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91597D0-BF77-5A06-AD9F-F9129BEA4102}"/>
              </a:ext>
            </a:extLst>
          </p:cNvPr>
          <p:cNvSpPr/>
          <p:nvPr/>
        </p:nvSpPr>
        <p:spPr>
          <a:xfrm>
            <a:off x="457200" y="1955265"/>
            <a:ext cx="3703309" cy="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zh-CN" altLang="en-US" sz="1100" dirty="0">
                <a:solidFill>
                  <a:srgbClr val="4C4C4C"/>
                </a:solidFill>
              </a:rPr>
              <a:t>向量场是一个在空间中每一点都对应一个向量的函数。</a:t>
            </a:r>
            <a:endParaRPr lang="en-US" sz="1100" dirty="0"/>
          </a:p>
        </p:txBody>
      </p:sp>
      <p:pic>
        <p:nvPicPr>
          <p:cNvPr id="12" name="图片 11" descr="图示&#10;&#10;AI 生成的内容可能不正确。">
            <a:extLst>
              <a:ext uri="{FF2B5EF4-FFF2-40B4-BE49-F238E27FC236}">
                <a16:creationId xmlns:a16="http://schemas.microsoft.com/office/drawing/2014/main" id="{52A5E7A5-0E6D-CABB-A817-961AADA0B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145" y="580498"/>
            <a:ext cx="3928232" cy="401047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E70CF36-4266-42AF-1EFA-436C28339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199" y="3934529"/>
            <a:ext cx="1651031" cy="285755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7C6BEA14-D60E-C95F-13FA-89FECEDC1C3E}"/>
              </a:ext>
            </a:extLst>
          </p:cNvPr>
          <p:cNvSpPr/>
          <p:nvPr/>
        </p:nvSpPr>
        <p:spPr>
          <a:xfrm>
            <a:off x="457200" y="3634949"/>
            <a:ext cx="253274" cy="1962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zh-CN" altLang="en-US" sz="987" b="1" dirty="0">
                <a:solidFill>
                  <a:srgbClr val="333333"/>
                </a:solidFill>
              </a:rPr>
              <a:t>例子</a:t>
            </a:r>
            <a:endParaRPr lang="en-US" sz="987" dirty="0"/>
          </a:p>
        </p:txBody>
      </p:sp>
    </p:spTree>
    <p:extLst>
      <p:ext uri="{BB962C8B-B14F-4D97-AF65-F5344CB8AC3E}">
        <p14:creationId xmlns:p14="http://schemas.microsoft.com/office/powerpoint/2010/main" val="1085028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78D8F-7CE3-64D9-3510-27BE5158C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preencoded.png">
            <a:hlinkClick r:id="rId3" action="ppaction://hlinkfile"/>
            <a:extLst>
              <a:ext uri="{FF2B5EF4-FFF2-40B4-BE49-F238E27FC236}">
                <a16:creationId xmlns:a16="http://schemas.microsoft.com/office/drawing/2014/main" id="{006B3864-ACF8-CE8C-7903-C1C06FCE0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08080"/>
            <a:ext cx="9144000" cy="203541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1D0F1AB-1AE6-325D-B86B-04B5350D07AF}"/>
              </a:ext>
            </a:extLst>
          </p:cNvPr>
          <p:cNvSpPr/>
          <p:nvPr/>
        </p:nvSpPr>
        <p:spPr>
          <a:xfrm>
            <a:off x="457200" y="886578"/>
            <a:ext cx="3125856" cy="38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zh-CN" altLang="en-US" sz="2436" b="1" dirty="0">
                <a:solidFill>
                  <a:srgbClr val="000000"/>
                </a:solidFill>
                <a:latin typeface="+mj-ea"/>
                <a:ea typeface="+mj-ea"/>
              </a:rPr>
              <a:t>几种三维向量场的表示</a:t>
            </a:r>
            <a:endParaRPr lang="en-US" sz="2436" dirty="0">
              <a:latin typeface="+mj-ea"/>
              <a:ea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0AB1A1-2A92-029E-904B-797821BDAD0B}"/>
              </a:ext>
            </a:extLst>
          </p:cNvPr>
          <p:cNvSpPr txBox="1"/>
          <p:nvPr/>
        </p:nvSpPr>
        <p:spPr>
          <a:xfrm>
            <a:off x="457200" y="2310140"/>
            <a:ext cx="2387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常向量场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Constant Vector Field</a:t>
            </a:r>
            <a:r>
              <a:rPr lang="zh-CN" altLang="en-US" sz="1400" b="1" dirty="0"/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BB520F1-1DE9-6494-C4BA-3BAEF813003A}"/>
              </a:ext>
            </a:extLst>
          </p:cNvPr>
          <p:cNvSpPr txBox="1"/>
          <p:nvPr/>
        </p:nvSpPr>
        <p:spPr>
          <a:xfrm>
            <a:off x="3103876" y="2310140"/>
            <a:ext cx="20703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径向向量场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Radial Vector Field</a:t>
            </a:r>
            <a:r>
              <a:rPr lang="zh-CN" altLang="en-US" sz="1400" b="1" dirty="0"/>
              <a:t>）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0412F1B-8914-1280-3E68-EAE0E33294E2}"/>
              </a:ext>
            </a:extLst>
          </p:cNvPr>
          <p:cNvSpPr txBox="1"/>
          <p:nvPr/>
        </p:nvSpPr>
        <p:spPr>
          <a:xfrm>
            <a:off x="5376496" y="1754393"/>
            <a:ext cx="3437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旋转向量场 </a:t>
            </a:r>
            <a:r>
              <a:rPr lang="en-US" altLang="zh-CN" sz="1400" b="1" dirty="0"/>
              <a:t>/ </a:t>
            </a:r>
            <a:r>
              <a:rPr lang="zh-CN" altLang="en-US" sz="1400" b="1" dirty="0"/>
              <a:t>切向向量场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Rotational / Tangential Vector Field</a:t>
            </a:r>
            <a:r>
              <a:rPr lang="zh-CN" altLang="en-US" sz="1400" b="1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3D9C63-FE9D-DDF0-D593-877D5A0F8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40" y="3246904"/>
            <a:ext cx="2262032" cy="2983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B93FBE9-BD31-13D3-3569-749D8FC80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9929" y="3288045"/>
            <a:ext cx="2358289" cy="33689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92C8361-1037-6265-5B11-8AAA7F7EE8E3}"/>
              </a:ext>
            </a:extLst>
          </p:cNvPr>
          <p:cNvSpPr txBox="1"/>
          <p:nvPr/>
        </p:nvSpPr>
        <p:spPr>
          <a:xfrm>
            <a:off x="5376496" y="3082075"/>
            <a:ext cx="20703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Around y-axis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BCF4933-4FFC-6F5B-FC8F-A360ADCA2A25}"/>
              </a:ext>
            </a:extLst>
          </p:cNvPr>
          <p:cNvSpPr txBox="1"/>
          <p:nvPr/>
        </p:nvSpPr>
        <p:spPr>
          <a:xfrm>
            <a:off x="5376496" y="3730661"/>
            <a:ext cx="20703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Around z-axis</a:t>
            </a:r>
            <a:endParaRPr lang="zh-CN" altLang="en-US" sz="14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0950F00-7383-7EA0-4215-30171ED053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4718" y="2632401"/>
            <a:ext cx="2464171" cy="31764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584ECDB-9B28-F1FB-7867-1F3559D806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4718" y="3340295"/>
            <a:ext cx="2435294" cy="240642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EDB06A98-FD7A-A8D1-58F8-05DCCDCF6E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7285" y="3973029"/>
            <a:ext cx="2310160" cy="28877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103967F-CFC9-C359-DF04-51C360991739}"/>
              </a:ext>
            </a:extLst>
          </p:cNvPr>
          <p:cNvSpPr txBox="1"/>
          <p:nvPr/>
        </p:nvSpPr>
        <p:spPr>
          <a:xfrm>
            <a:off x="5376496" y="2400185"/>
            <a:ext cx="20703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Around x-axis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13114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F4B5-60ED-400F-7DB7-2B321C2D1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图表&#10;&#10;AI 生成的内容可能不正确。">
            <a:extLst>
              <a:ext uri="{FF2B5EF4-FFF2-40B4-BE49-F238E27FC236}">
                <a16:creationId xmlns:a16="http://schemas.microsoft.com/office/drawing/2014/main" id="{BA90D018-1829-C7D8-DB22-A4A0E744A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1223100"/>
            <a:ext cx="4585125" cy="2930223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91A92585-F223-A9B8-6DC9-E8A7569B089C}"/>
              </a:ext>
            </a:extLst>
          </p:cNvPr>
          <p:cNvSpPr/>
          <p:nvPr/>
        </p:nvSpPr>
        <p:spPr>
          <a:xfrm>
            <a:off x="5000625" y="980870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向量场的可视化</a:t>
            </a:r>
            <a:endParaRPr lang="en-US" sz="1808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81A13D6-EB5D-98BB-A664-D68BFC6A6301}"/>
              </a:ext>
            </a:extLst>
          </p:cNvPr>
          <p:cNvSpPr/>
          <p:nvPr/>
        </p:nvSpPr>
        <p:spPr>
          <a:xfrm>
            <a:off x="5000625" y="1616664"/>
            <a:ext cx="3714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1. 向量（箭头）图</a:t>
            </a:r>
            <a:endParaRPr lang="en-US" sz="8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B12C2479-B201-AD9A-2839-C5E57518D877}"/>
                  </a:ext>
                </a:extLst>
              </p:cNvPr>
              <p:cNvSpPr/>
              <p:nvPr/>
            </p:nvSpPr>
            <p:spPr>
              <a:xfrm>
                <a:off x="5000626" y="1866695"/>
                <a:ext cx="3065865" cy="1528495"/>
              </a:xfrm>
              <a:prstGeom prst="rect">
                <a:avLst/>
              </a:prstGeom>
              <a:noFill/>
              <a:ln/>
            </p:spPr>
            <p:txBody>
              <a:bodyPr wrap="square" lIns="170053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100" dirty="0"/>
                  <a:t>在选定的网格点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100" dirty="0"/>
                  <a:t>上绘制对应的向量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altLang="zh-CN" sz="1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sz="11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sepChr m:val=","/>
                        <m:ctrlPr>
                          <a:rPr lang="ar-AE" altLang="zh-CN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ar-AE" sz="1100" dirty="0"/>
                  <a:t>，</a:t>
                </a:r>
                <a:r>
                  <a:rPr lang="zh-CN" altLang="en-US" sz="1100" dirty="0"/>
                  <a:t>用箭头表示方向，用箭头长度表示大小。</a:t>
                </a:r>
                <a:br>
                  <a:rPr lang="zh-CN" altLang="en-US" sz="1100" dirty="0"/>
                </a:br>
                <a:r>
                  <a:rPr lang="zh-CN" altLang="en-US" sz="1100" dirty="0"/>
                  <a:t>这种方法能直观地展示场在不同位置的</a:t>
                </a:r>
                <a:r>
                  <a:rPr lang="zh-CN" altLang="en-US" sz="1100" b="1" dirty="0"/>
                  <a:t>局部方向变化</a:t>
                </a:r>
                <a:r>
                  <a:rPr lang="zh-CN" altLang="en-US" sz="1100" dirty="0"/>
                  <a:t>和</a:t>
                </a:r>
                <a:r>
                  <a:rPr lang="zh-CN" altLang="en-US" sz="1100" b="1" dirty="0"/>
                  <a:t>强弱分布</a:t>
                </a:r>
                <a:r>
                  <a:rPr lang="zh-CN" altLang="en-US" sz="1100" dirty="0"/>
                  <a:t>，是理解向量场最基础的可视化方式。</a:t>
                </a:r>
                <a:endParaRPr lang="en-US" sz="1100" dirty="0"/>
              </a:p>
            </p:txBody>
          </p:sp>
        </mc:Choice>
        <mc:Fallback xmlns="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B12C2479-B201-AD9A-2839-C5E57518D8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626" y="1866695"/>
                <a:ext cx="3065865" cy="1528495"/>
              </a:xfrm>
              <a:prstGeom prst="rect">
                <a:avLst/>
              </a:prstGeom>
              <a:blipFill>
                <a:blip r:embed="rId4"/>
                <a:stretch>
                  <a:fillRect r="-2584" b="-478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6">
            <a:extLst>
              <a:ext uri="{FF2B5EF4-FFF2-40B4-BE49-F238E27FC236}">
                <a16:creationId xmlns:a16="http://schemas.microsoft.com/office/drawing/2014/main" id="{6C7ABC43-544A-2873-FBBC-D93AF97341CD}"/>
              </a:ext>
            </a:extLst>
          </p:cNvPr>
          <p:cNvSpPr/>
          <p:nvPr/>
        </p:nvSpPr>
        <p:spPr>
          <a:xfrm>
            <a:off x="5000625" y="2499615"/>
            <a:ext cx="171778" cy="1629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E5ABD99-BDC9-07BB-3465-94CED43FC814}"/>
              </a:ext>
            </a:extLst>
          </p:cNvPr>
          <p:cNvSpPr/>
          <p:nvPr/>
        </p:nvSpPr>
        <p:spPr>
          <a:xfrm>
            <a:off x="5000625" y="3765454"/>
            <a:ext cx="3714750" cy="39717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099D46F-FEAF-B428-943A-92698AB5D464}"/>
              </a:ext>
            </a:extLst>
          </p:cNvPr>
          <p:cNvSpPr/>
          <p:nvPr/>
        </p:nvSpPr>
        <p:spPr>
          <a:xfrm>
            <a:off x="5000625" y="3765454"/>
            <a:ext cx="21431" cy="39717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F136085-DF6E-A2FF-5228-747ED32C8CE4}"/>
              </a:ext>
            </a:extLst>
          </p:cNvPr>
          <p:cNvSpPr/>
          <p:nvPr/>
        </p:nvSpPr>
        <p:spPr>
          <a:xfrm>
            <a:off x="5000625" y="3765454"/>
            <a:ext cx="3714750" cy="41812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 err="1">
                <a:solidFill>
                  <a:srgbClr val="000000"/>
                </a:solidFill>
              </a:rPr>
              <a:t>可视化对于理解向量场至关重要</a:t>
            </a:r>
            <a:r>
              <a:rPr lang="en-US" sz="784" b="1" dirty="0">
                <a:solidFill>
                  <a:srgbClr val="000000"/>
                </a:solidFill>
              </a:rPr>
              <a:t>，</a:t>
            </a:r>
            <a:r>
              <a:rPr lang="zh-CN" altLang="en-US" sz="784" b="1" dirty="0">
                <a:solidFill>
                  <a:srgbClr val="000000"/>
                </a:solidFill>
              </a:rPr>
              <a:t>是核心工具</a:t>
            </a:r>
            <a:endParaRPr lang="en-US" sz="784" dirty="0"/>
          </a:p>
        </p:txBody>
      </p:sp>
    </p:spTree>
    <p:extLst>
      <p:ext uri="{BB962C8B-B14F-4D97-AF65-F5344CB8AC3E}">
        <p14:creationId xmlns:p14="http://schemas.microsoft.com/office/powerpoint/2010/main" val="552420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图示&#10;&#10;AI 生成的内容可能不正确。">
            <a:extLst>
              <a:ext uri="{FF2B5EF4-FFF2-40B4-BE49-F238E27FC236}">
                <a16:creationId xmlns:a16="http://schemas.microsoft.com/office/drawing/2014/main" id="{76732353-56C2-AD06-13CD-280EA0506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" y="1223100"/>
            <a:ext cx="4656075" cy="29302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00625" y="980870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向量场的可视化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5000625" y="1616664"/>
            <a:ext cx="424796" cy="181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100" b="1" dirty="0">
                <a:solidFill>
                  <a:srgbClr val="000000"/>
                </a:solidFill>
              </a:rPr>
              <a:t>2. </a:t>
            </a:r>
            <a:r>
              <a:rPr lang="en-US" altLang="zh-CN" sz="1100" b="1" dirty="0" err="1">
                <a:solidFill>
                  <a:srgbClr val="000000"/>
                </a:solidFill>
              </a:rPr>
              <a:t>流线</a:t>
            </a:r>
            <a:endParaRPr lang="en-US" altLang="zh-CN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/>
              <p:cNvSpPr/>
              <p:nvPr/>
            </p:nvSpPr>
            <p:spPr>
              <a:xfrm>
                <a:off x="5000626" y="1866695"/>
                <a:ext cx="3714750" cy="1020664"/>
              </a:xfrm>
              <a:prstGeom prst="rect">
                <a:avLst/>
              </a:prstGeom>
              <a:noFill/>
              <a:ln/>
            </p:spPr>
            <p:txBody>
              <a:bodyPr wrap="square" lIns="170053" tIns="0" rIns="0" bIns="0" rtlCol="0" anchor="t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zh-CN" altLang="en-US" sz="1100" dirty="0">
                    <a:solidFill>
                      <a:prstClr val="black"/>
                    </a:solidFill>
                  </a:rPr>
                  <a:t>在选定的网格点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1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ar-AE" sz="11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sz="11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ar-AE" sz="11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100" dirty="0">
                    <a:solidFill>
                      <a:prstClr val="black"/>
                    </a:solidFill>
                  </a:rPr>
                  <a:t>上绘制对应的向量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altLang="zh-CN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sepChr m:val=","/>
                        <m:ctrlPr>
                          <a:rPr lang="ar-AE" altLang="zh-CN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1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ar-AE" sz="11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sz="11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ar-AE" sz="11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ar-AE" sz="1100" dirty="0">
                    <a:solidFill>
                      <a:prstClr val="black"/>
                    </a:solidFill>
                  </a:rPr>
                  <a:t>，</a:t>
                </a:r>
                <a:r>
                  <a:rPr lang="zh-CN" altLang="en-US" sz="1100" dirty="0">
                    <a:solidFill>
                      <a:prstClr val="black"/>
                    </a:solidFill>
                  </a:rPr>
                  <a:t>用箭头表示方向，用箭头长度表示大小。</a:t>
                </a:r>
                <a:br>
                  <a:rPr lang="zh-CN" altLang="en-US" sz="1100" dirty="0">
                    <a:solidFill>
                      <a:prstClr val="black"/>
                    </a:solidFill>
                  </a:rPr>
                </a:br>
                <a:r>
                  <a:rPr lang="zh-CN" altLang="en-US" sz="1100" dirty="0">
                    <a:solidFill>
                      <a:prstClr val="black"/>
                    </a:solidFill>
                  </a:rPr>
                  <a:t>这种方法能直观地展示场在不同位置的</a:t>
                </a:r>
                <a:r>
                  <a:rPr lang="zh-CN" altLang="en-US" sz="1100" b="1" dirty="0">
                    <a:solidFill>
                      <a:prstClr val="black"/>
                    </a:solidFill>
                  </a:rPr>
                  <a:t>局部方向变化</a:t>
                </a:r>
                <a:r>
                  <a:rPr lang="zh-CN" altLang="en-US" sz="1100" dirty="0">
                    <a:solidFill>
                      <a:prstClr val="black"/>
                    </a:solidFill>
                  </a:rPr>
                  <a:t>和</a:t>
                </a:r>
                <a:r>
                  <a:rPr lang="zh-CN" altLang="en-US" sz="1100" b="1" dirty="0">
                    <a:solidFill>
                      <a:prstClr val="black"/>
                    </a:solidFill>
                  </a:rPr>
                  <a:t>强弱分布</a:t>
                </a:r>
                <a:r>
                  <a:rPr lang="zh-CN" altLang="en-US" sz="1100" dirty="0">
                    <a:solidFill>
                      <a:prstClr val="black"/>
                    </a:solidFill>
                  </a:rPr>
                  <a:t>，是理解向量场最基础的可视化方式。</a:t>
                </a:r>
                <a:endParaRPr lang="en-US" altLang="zh-CN" sz="11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626" y="1866695"/>
                <a:ext cx="3714750" cy="1020664"/>
              </a:xfrm>
              <a:prstGeom prst="rect">
                <a:avLst/>
              </a:prstGeom>
              <a:blipFill>
                <a:blip r:embed="rId4"/>
                <a:stretch>
                  <a:fillRect r="-1311" b="-773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5"/>
          <p:cNvSpPr/>
          <p:nvPr/>
        </p:nvSpPr>
        <p:spPr>
          <a:xfrm>
            <a:off x="5000625" y="2249584"/>
            <a:ext cx="65" cy="1742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000625" y="2499615"/>
            <a:ext cx="171778" cy="1629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000625" y="3132534"/>
            <a:ext cx="171778" cy="1629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000625" y="3765454"/>
            <a:ext cx="3714750" cy="39717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5000625" y="3765454"/>
            <a:ext cx="21431" cy="39717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000625" y="3765454"/>
            <a:ext cx="3714750" cy="41812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 err="1">
                <a:solidFill>
                  <a:srgbClr val="000000"/>
                </a:solidFill>
              </a:rPr>
              <a:t>可视化对于理解向量场至关重要</a:t>
            </a:r>
            <a:r>
              <a:rPr lang="en-US" sz="784" b="1" dirty="0">
                <a:solidFill>
                  <a:srgbClr val="000000"/>
                </a:solidFill>
              </a:rPr>
              <a:t>，</a:t>
            </a:r>
            <a:r>
              <a:rPr lang="zh-CN" altLang="en-US" sz="784" b="1" dirty="0">
                <a:solidFill>
                  <a:srgbClr val="000000"/>
                </a:solidFill>
              </a:rPr>
              <a:t>是核心工具</a:t>
            </a:r>
            <a:endParaRPr lang="en-US" sz="78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BB509-76F5-C143-3248-8C00433D0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图表, 图示&#10;&#10;AI 生成的内容可能不正确。">
            <a:extLst>
              <a:ext uri="{FF2B5EF4-FFF2-40B4-BE49-F238E27FC236}">
                <a16:creationId xmlns:a16="http://schemas.microsoft.com/office/drawing/2014/main" id="{9783ACF4-69B8-AB67-8B5B-63D29A908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1" y="1209384"/>
            <a:ext cx="4656076" cy="2946187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80E0B1D-A021-CEA2-1DB3-8305A50D6BEE}"/>
              </a:ext>
            </a:extLst>
          </p:cNvPr>
          <p:cNvSpPr/>
          <p:nvPr/>
        </p:nvSpPr>
        <p:spPr>
          <a:xfrm>
            <a:off x="5000625" y="980870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向量场的可视化</a:t>
            </a:r>
            <a:endParaRPr lang="en-US" sz="1808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38FE86C-D9C3-1E17-C6A1-3CE2E1BF65A5}"/>
              </a:ext>
            </a:extLst>
          </p:cNvPr>
          <p:cNvSpPr/>
          <p:nvPr/>
        </p:nvSpPr>
        <p:spPr>
          <a:xfrm>
            <a:off x="5000625" y="1616664"/>
            <a:ext cx="998671" cy="174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885" b="1" dirty="0">
                <a:solidFill>
                  <a:srgbClr val="000000"/>
                </a:solidFill>
              </a:rPr>
              <a:t>3.</a:t>
            </a:r>
            <a:r>
              <a:rPr lang="zh-CN" altLang="en-US" sz="885" b="1" dirty="0">
                <a:solidFill>
                  <a:srgbClr val="000000"/>
                </a:solidFill>
              </a:rPr>
              <a:t>等势线（等值线）</a:t>
            </a:r>
            <a:endParaRPr lang="en-US" altLang="zh-CN" sz="885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17C4B0C-5518-08A7-FBA2-B1D2D378B6DB}"/>
              </a:ext>
            </a:extLst>
          </p:cNvPr>
          <p:cNvSpPr/>
          <p:nvPr/>
        </p:nvSpPr>
        <p:spPr>
          <a:xfrm>
            <a:off x="5000626" y="1866695"/>
            <a:ext cx="3714750" cy="124367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100" dirty="0">
                <a:solidFill>
                  <a:prstClr val="black"/>
                </a:solidFill>
              </a:rPr>
              <a:t>当向量场来自某个势函数 𝜙</a:t>
            </a:r>
            <a:r>
              <a:rPr lang="en-US" altLang="zh-CN" sz="1100" dirty="0">
                <a:solidFill>
                  <a:prstClr val="black"/>
                </a:solidFill>
              </a:rPr>
              <a:t>(</a:t>
            </a:r>
            <a:r>
              <a:rPr lang="zh-CN" altLang="en-US" sz="1100" dirty="0">
                <a:solidFill>
                  <a:prstClr val="black"/>
                </a:solidFill>
              </a:rPr>
              <a:t>𝑥</a:t>
            </a:r>
            <a:r>
              <a:rPr lang="en-US" altLang="zh-CN" sz="1100" dirty="0">
                <a:solidFill>
                  <a:prstClr val="black"/>
                </a:solidFill>
              </a:rPr>
              <a:t>,</a:t>
            </a:r>
            <a:r>
              <a:rPr lang="zh-CN" altLang="en-US" sz="1100" dirty="0">
                <a:solidFill>
                  <a:prstClr val="black"/>
                </a:solidFill>
              </a:rPr>
              <a:t>𝑦</a:t>
            </a:r>
            <a:r>
              <a:rPr lang="en-US" altLang="zh-CN" sz="1100" dirty="0">
                <a:solidFill>
                  <a:prstClr val="black"/>
                </a:solidFill>
              </a:rPr>
              <a:t>) </a:t>
            </a:r>
            <a:r>
              <a:rPr lang="en-US" altLang="zh-CN" sz="800" b="1" dirty="0"/>
              <a:t>/</a:t>
            </a:r>
            <a:r>
              <a:rPr lang="en-US" altLang="zh-CN" sz="800" b="1" dirty="0" err="1"/>
              <a:t>faɪ</a:t>
            </a:r>
            <a:r>
              <a:rPr lang="en-US" altLang="zh-CN" sz="800" b="1" dirty="0"/>
              <a:t>/</a:t>
            </a:r>
            <a:r>
              <a:rPr lang="zh-CN" altLang="en-US" sz="800" dirty="0"/>
              <a:t>（像英语单词 </a:t>
            </a:r>
            <a:r>
              <a:rPr lang="en-US" altLang="zh-CN" sz="800" i="1" dirty="0"/>
              <a:t>fine</a:t>
            </a:r>
            <a:r>
              <a:rPr lang="zh-CN" altLang="en-US" sz="800" dirty="0"/>
              <a:t> 的开头）</a:t>
            </a:r>
            <a:r>
              <a:rPr lang="zh-CN" altLang="en-US" sz="1100" dirty="0">
                <a:solidFill>
                  <a:prstClr val="black"/>
                </a:solidFill>
              </a:rPr>
              <a:t>时，可以绘制势函数的等值线。等势线能突出场中“能量或势值相同的位置分布”，展示场的</a:t>
            </a:r>
            <a:r>
              <a:rPr lang="zh-CN" altLang="en-US" sz="1100" b="1" dirty="0">
                <a:solidFill>
                  <a:prstClr val="black"/>
                </a:solidFill>
              </a:rPr>
              <a:t>梯度方向</a:t>
            </a:r>
            <a:r>
              <a:rPr lang="zh-CN" altLang="en-US" sz="1100" dirty="0">
                <a:solidFill>
                  <a:prstClr val="black"/>
                </a:solidFill>
              </a:rPr>
              <a:t>（总是垂直于等势线）以及区域间的“变化陡峭程度”。这种方法特别适用于保守场（如重力场、电势场）等有势函数的场。</a:t>
            </a:r>
            <a:endParaRPr lang="en-US" altLang="zh-CN" sz="1100" dirty="0">
              <a:solidFill>
                <a:prstClr val="black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C8379B9-8D08-6835-CBEA-2319D1680BAD}"/>
              </a:ext>
            </a:extLst>
          </p:cNvPr>
          <p:cNvSpPr/>
          <p:nvPr/>
        </p:nvSpPr>
        <p:spPr>
          <a:xfrm>
            <a:off x="5000625" y="2249584"/>
            <a:ext cx="65" cy="1742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885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9C2F3C0-8ACF-6739-7B15-53C8F950A3C0}"/>
              </a:ext>
            </a:extLst>
          </p:cNvPr>
          <p:cNvSpPr/>
          <p:nvPr/>
        </p:nvSpPr>
        <p:spPr>
          <a:xfrm>
            <a:off x="5000625" y="2499615"/>
            <a:ext cx="171778" cy="1629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D6DA10D-0C97-F9D3-93A5-CA54800105EA}"/>
              </a:ext>
            </a:extLst>
          </p:cNvPr>
          <p:cNvSpPr/>
          <p:nvPr/>
        </p:nvSpPr>
        <p:spPr>
          <a:xfrm>
            <a:off x="5000625" y="2882503"/>
            <a:ext cx="65" cy="1742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885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6E42BF3-7393-F9B8-8C8D-2F84063BCE48}"/>
              </a:ext>
            </a:extLst>
          </p:cNvPr>
          <p:cNvSpPr/>
          <p:nvPr/>
        </p:nvSpPr>
        <p:spPr>
          <a:xfrm>
            <a:off x="5000625" y="3132534"/>
            <a:ext cx="171778" cy="1629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0393416-0C9C-116F-F4C3-1DCCACEA3709}"/>
              </a:ext>
            </a:extLst>
          </p:cNvPr>
          <p:cNvSpPr/>
          <p:nvPr/>
        </p:nvSpPr>
        <p:spPr>
          <a:xfrm>
            <a:off x="5000625" y="3765454"/>
            <a:ext cx="3714750" cy="39717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2D76AF3-0379-9B03-C925-C1C9F6B0B4E8}"/>
              </a:ext>
            </a:extLst>
          </p:cNvPr>
          <p:cNvSpPr/>
          <p:nvPr/>
        </p:nvSpPr>
        <p:spPr>
          <a:xfrm>
            <a:off x="5000625" y="3765454"/>
            <a:ext cx="21431" cy="39717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8C0B85B-8F2F-5E73-0EB6-53CCC40B71B9}"/>
              </a:ext>
            </a:extLst>
          </p:cNvPr>
          <p:cNvSpPr/>
          <p:nvPr/>
        </p:nvSpPr>
        <p:spPr>
          <a:xfrm>
            <a:off x="5000625" y="3765454"/>
            <a:ext cx="3714750" cy="41812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 err="1">
                <a:solidFill>
                  <a:srgbClr val="000000"/>
                </a:solidFill>
              </a:rPr>
              <a:t>可视化对于理解向量场至关重要</a:t>
            </a:r>
            <a:r>
              <a:rPr lang="en-US" sz="784" b="1" dirty="0">
                <a:solidFill>
                  <a:srgbClr val="000000"/>
                </a:solidFill>
              </a:rPr>
              <a:t>，</a:t>
            </a:r>
            <a:r>
              <a:rPr lang="zh-CN" altLang="en-US" sz="784" b="1" dirty="0">
                <a:solidFill>
                  <a:srgbClr val="000000"/>
                </a:solidFill>
              </a:rPr>
              <a:t>是核心工具</a:t>
            </a:r>
            <a:endParaRPr lang="en-US" sz="784" dirty="0"/>
          </a:p>
        </p:txBody>
      </p:sp>
    </p:spTree>
    <p:extLst>
      <p:ext uri="{BB962C8B-B14F-4D97-AF65-F5344CB8AC3E}">
        <p14:creationId xmlns:p14="http://schemas.microsoft.com/office/powerpoint/2010/main" val="2357006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812189" y="2067594"/>
            <a:ext cx="7519621" cy="1606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4800" b="1" dirty="0">
                <a:solidFill>
                  <a:srgbClr val="000000"/>
                </a:solidFill>
              </a:rPr>
              <a:t> Thank you for your listening!</a:t>
            </a:r>
          </a:p>
          <a:p>
            <a:pPr marL="0" indent="0" algn="ctr">
              <a:lnSpc>
                <a:spcPts val="3000"/>
              </a:lnSpc>
              <a:buNone/>
            </a:pPr>
            <a:endParaRPr lang="en-US" altLang="zh-CN" sz="4800" b="1" dirty="0">
              <a:solidFill>
                <a:srgbClr val="000000"/>
              </a:solidFill>
            </a:endParaRPr>
          </a:p>
          <a:p>
            <a:pPr marL="0" indent="0" algn="ctr">
              <a:lnSpc>
                <a:spcPts val="3000"/>
              </a:lnSpc>
              <a:buNone/>
            </a:pPr>
            <a:r>
              <a:rPr lang="en-US" altLang="zh-CN" sz="4800" b="1" dirty="0">
                <a:solidFill>
                  <a:srgbClr val="000000"/>
                </a:solidFill>
              </a:rPr>
              <a:t>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zh-CN" altLang="en-US" sz="4800" b="1" dirty="0">
                <a:solidFill>
                  <a:srgbClr val="000000"/>
                </a:solidFill>
              </a:rPr>
              <a:t>  谢谢！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713</Words>
  <Application>Microsoft Office PowerPoint</Application>
  <PresentationFormat>全屏显示(16:9)</PresentationFormat>
  <Paragraphs>98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Cambria Math</vt:lpstr>
      <vt:lpstr>Cascadia Code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YinXianzhuo</cp:lastModifiedBy>
  <cp:revision>15</cp:revision>
  <dcterms:created xsi:type="dcterms:W3CDTF">2025-12-02T23:32:32Z</dcterms:created>
  <dcterms:modified xsi:type="dcterms:W3CDTF">2025-12-04T23:30:59Z</dcterms:modified>
</cp:coreProperties>
</file>